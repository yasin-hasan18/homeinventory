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Codec Pro Ultra-Bold" charset="1" panose="00000700000000000000"/>
      <p:regular r:id="rId17"/>
    </p:embeddedFont>
    <p:embeddedFont>
      <p:font typeface="Canva Sans Bold" charset="1" panose="020B0803030501040103"/>
      <p:regular r:id="rId18"/>
    </p:embeddedFont>
    <p:embeddedFont>
      <p:font typeface="Open Sans Bold" charset="1" panose="020B0806030504020204"/>
      <p:regular r:id="rId19"/>
    </p:embeddedFont>
    <p:embeddedFont>
      <p:font typeface="Canva Sans" charset="1" panose="020B0503030501040103"/>
      <p:regular r:id="rId20"/>
    </p:embeddedFont>
    <p:embeddedFont>
      <p:font typeface="Open Sans" charset="1" panose="020B0606030504020204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jpe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4.png" Type="http://schemas.openxmlformats.org/officeDocument/2006/relationships/image"/><Relationship Id="rId2" Target="../media/image8.png" Type="http://schemas.openxmlformats.org/officeDocument/2006/relationships/image"/><Relationship Id="rId3" Target="../media/image1.png" Type="http://schemas.openxmlformats.org/officeDocument/2006/relationships/image"/><Relationship Id="rId4" Target="../media/image2.svg" Type="http://schemas.openxmlformats.org/officeDocument/2006/relationships/image"/><Relationship Id="rId5" Target="../media/image9.png" Type="http://schemas.openxmlformats.org/officeDocument/2006/relationships/image"/><Relationship Id="rId6" Target="../media/image10.png" Type="http://schemas.openxmlformats.org/officeDocument/2006/relationships/image"/><Relationship Id="rId7" Target="../media/image11.png" Type="http://schemas.openxmlformats.org/officeDocument/2006/relationships/image"/><Relationship Id="rId8" Target="../media/image12.png" Type="http://schemas.openxmlformats.org/officeDocument/2006/relationships/image"/><Relationship Id="rId9" Target="../media/image13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5.png" Type="http://schemas.openxmlformats.org/officeDocument/2006/relationships/image"/><Relationship Id="rId5" Target="../media/image16.png" Type="http://schemas.openxmlformats.org/officeDocument/2006/relationships/image"/><Relationship Id="rId6" Target="../media/image17.png" Type="http://schemas.openxmlformats.org/officeDocument/2006/relationships/image"/><Relationship Id="rId7" Target="../media/image18.svg" Type="http://schemas.openxmlformats.org/officeDocument/2006/relationships/image"/><Relationship Id="rId8" Target="../media/image4.png" Type="http://schemas.openxmlformats.org/officeDocument/2006/relationships/image"/><Relationship Id="rId9" Target="../media/image5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Relationship Id="rId3" Target="../media/image20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21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22.png" Type="http://schemas.openxmlformats.org/officeDocument/2006/relationships/image"/><Relationship Id="rId5" Target="../media/image23.png" Type="http://schemas.openxmlformats.org/officeDocument/2006/relationships/image"/><Relationship Id="rId6" Target="../media/image24.svg" Type="http://schemas.openxmlformats.org/officeDocument/2006/relationships/image"/><Relationship Id="rId7" Target="../media/image25.png" Type="http://schemas.openxmlformats.org/officeDocument/2006/relationships/image"/><Relationship Id="rId8" Target="../media/image26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D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779735" y="-916993"/>
            <a:ext cx="3969884" cy="2785026"/>
          </a:xfrm>
          <a:custGeom>
            <a:avLst/>
            <a:gdLst/>
            <a:ahLst/>
            <a:cxnLst/>
            <a:rect r="r" b="b" t="t" l="l"/>
            <a:pathLst>
              <a:path h="2785026" w="3969884">
                <a:moveTo>
                  <a:pt x="0" y="0"/>
                </a:moveTo>
                <a:lnTo>
                  <a:pt x="3969884" y="0"/>
                </a:lnTo>
                <a:lnTo>
                  <a:pt x="3969884" y="2785026"/>
                </a:lnTo>
                <a:lnTo>
                  <a:pt x="0" y="278502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5097851" y="8418967"/>
            <a:ext cx="3969884" cy="2785026"/>
          </a:xfrm>
          <a:custGeom>
            <a:avLst/>
            <a:gdLst/>
            <a:ahLst/>
            <a:cxnLst/>
            <a:rect r="r" b="b" t="t" l="l"/>
            <a:pathLst>
              <a:path h="2785026" w="3969884">
                <a:moveTo>
                  <a:pt x="3969884" y="2785026"/>
                </a:moveTo>
                <a:lnTo>
                  <a:pt x="0" y="2785026"/>
                </a:lnTo>
                <a:lnTo>
                  <a:pt x="0" y="0"/>
                </a:lnTo>
                <a:lnTo>
                  <a:pt x="3969884" y="0"/>
                </a:lnTo>
                <a:lnTo>
                  <a:pt x="3969884" y="278502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-691765" y="1176268"/>
            <a:ext cx="1383530" cy="1383530"/>
            <a:chOff x="0" y="0"/>
            <a:chExt cx="364386" cy="36438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64386" cy="364386"/>
            </a:xfrm>
            <a:custGeom>
              <a:avLst/>
              <a:gdLst/>
              <a:ahLst/>
              <a:cxnLst/>
              <a:rect r="r" b="b" t="t" l="l"/>
              <a:pathLst>
                <a:path h="364386" w="364386">
                  <a:moveTo>
                    <a:pt x="0" y="0"/>
                  </a:moveTo>
                  <a:lnTo>
                    <a:pt x="364386" y="0"/>
                  </a:lnTo>
                  <a:lnTo>
                    <a:pt x="364386" y="364386"/>
                  </a:lnTo>
                  <a:lnTo>
                    <a:pt x="0" y="364386"/>
                  </a:lnTo>
                  <a:close/>
                </a:path>
              </a:pathLst>
            </a:custGeom>
            <a:solidFill>
              <a:srgbClr val="446EB2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364386" cy="4024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7596235" y="7727202"/>
            <a:ext cx="1383530" cy="1383530"/>
            <a:chOff x="0" y="0"/>
            <a:chExt cx="364386" cy="36438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64386" cy="364386"/>
            </a:xfrm>
            <a:custGeom>
              <a:avLst/>
              <a:gdLst/>
              <a:ahLst/>
              <a:cxnLst/>
              <a:rect r="r" b="b" t="t" l="l"/>
              <a:pathLst>
                <a:path h="364386" w="364386">
                  <a:moveTo>
                    <a:pt x="0" y="0"/>
                  </a:moveTo>
                  <a:lnTo>
                    <a:pt x="364386" y="0"/>
                  </a:lnTo>
                  <a:lnTo>
                    <a:pt x="364386" y="364386"/>
                  </a:lnTo>
                  <a:lnTo>
                    <a:pt x="0" y="364386"/>
                  </a:lnTo>
                  <a:close/>
                </a:path>
              </a:pathLst>
            </a:custGeom>
            <a:solidFill>
              <a:srgbClr val="446EB2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364386" cy="4024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-2243781" y="7703002"/>
            <a:ext cx="3272481" cy="3272481"/>
            <a:chOff x="0" y="0"/>
            <a:chExt cx="861888" cy="86188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61888" cy="861888"/>
            </a:xfrm>
            <a:custGeom>
              <a:avLst/>
              <a:gdLst/>
              <a:ahLst/>
              <a:cxnLst/>
              <a:rect r="r" b="b" t="t" l="l"/>
              <a:pathLst>
                <a:path h="861888" w="861888">
                  <a:moveTo>
                    <a:pt x="0" y="0"/>
                  </a:moveTo>
                  <a:lnTo>
                    <a:pt x="861888" y="0"/>
                  </a:lnTo>
                  <a:lnTo>
                    <a:pt x="861888" y="861888"/>
                  </a:lnTo>
                  <a:lnTo>
                    <a:pt x="0" y="861888"/>
                  </a:lnTo>
                  <a:close/>
                </a:path>
              </a:pathLst>
            </a:custGeom>
            <a:solidFill>
              <a:srgbClr val="446EB2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861888" cy="89998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7259300" y="-688483"/>
            <a:ext cx="3272481" cy="3272481"/>
            <a:chOff x="0" y="0"/>
            <a:chExt cx="861888" cy="86188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61888" cy="861888"/>
            </a:xfrm>
            <a:custGeom>
              <a:avLst/>
              <a:gdLst/>
              <a:ahLst/>
              <a:cxnLst/>
              <a:rect r="r" b="b" t="t" l="l"/>
              <a:pathLst>
                <a:path h="861888" w="861888">
                  <a:moveTo>
                    <a:pt x="0" y="0"/>
                  </a:moveTo>
                  <a:lnTo>
                    <a:pt x="861888" y="0"/>
                  </a:lnTo>
                  <a:lnTo>
                    <a:pt x="861888" y="861888"/>
                  </a:lnTo>
                  <a:lnTo>
                    <a:pt x="0" y="861888"/>
                  </a:lnTo>
                  <a:close/>
                </a:path>
              </a:pathLst>
            </a:custGeom>
            <a:solidFill>
              <a:srgbClr val="446EB2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861888" cy="89998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10640935" y="3275367"/>
            <a:ext cx="5953964" cy="4215803"/>
          </a:xfrm>
          <a:custGeom>
            <a:avLst/>
            <a:gdLst/>
            <a:ahLst/>
            <a:cxnLst/>
            <a:rect r="r" b="b" t="t" l="l"/>
            <a:pathLst>
              <a:path h="4215803" w="5953964">
                <a:moveTo>
                  <a:pt x="0" y="0"/>
                </a:moveTo>
                <a:lnTo>
                  <a:pt x="5953964" y="0"/>
                </a:lnTo>
                <a:lnTo>
                  <a:pt x="5953964" y="4215803"/>
                </a:lnTo>
                <a:lnTo>
                  <a:pt x="0" y="421580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-1333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2731609" y="5017570"/>
            <a:ext cx="4983287" cy="1096323"/>
          </a:xfrm>
          <a:custGeom>
            <a:avLst/>
            <a:gdLst/>
            <a:ahLst/>
            <a:cxnLst/>
            <a:rect r="r" b="b" t="t" l="l"/>
            <a:pathLst>
              <a:path h="1096323" w="4983287">
                <a:moveTo>
                  <a:pt x="0" y="0"/>
                </a:moveTo>
                <a:lnTo>
                  <a:pt x="4983287" y="0"/>
                </a:lnTo>
                <a:lnTo>
                  <a:pt x="4983287" y="1096323"/>
                </a:lnTo>
                <a:lnTo>
                  <a:pt x="0" y="109632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2541675" y="6953110"/>
            <a:ext cx="5992998" cy="1558179"/>
          </a:xfrm>
          <a:custGeom>
            <a:avLst/>
            <a:gdLst/>
            <a:ahLst/>
            <a:cxnLst/>
            <a:rect r="r" b="b" t="t" l="l"/>
            <a:pathLst>
              <a:path h="1558179" w="5992998">
                <a:moveTo>
                  <a:pt x="0" y="0"/>
                </a:moveTo>
                <a:lnTo>
                  <a:pt x="5992998" y="0"/>
                </a:lnTo>
                <a:lnTo>
                  <a:pt x="5992998" y="1558179"/>
                </a:lnTo>
                <a:lnTo>
                  <a:pt x="0" y="155817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2770690" y="1591808"/>
            <a:ext cx="11165537" cy="3035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698"/>
              </a:lnSpc>
            </a:pPr>
            <a:r>
              <a:rPr lang="en-US" b="true" sz="8355">
                <a:solidFill>
                  <a:srgbClr val="182F5B"/>
                </a:solidFill>
                <a:latin typeface="Codec Pro Ultra-Bold"/>
                <a:ea typeface="Codec Pro Ultra-Bold"/>
                <a:cs typeface="Codec Pro Ultra-Bold"/>
                <a:sym typeface="Codec Pro Ultra-Bold"/>
              </a:rPr>
              <a:t>SIMPLE </a:t>
            </a:r>
            <a:r>
              <a:rPr lang="en-US" b="true" sz="8355">
                <a:solidFill>
                  <a:srgbClr val="182F5B"/>
                </a:solidFill>
                <a:latin typeface="Codec Pro Ultra-Bold"/>
                <a:ea typeface="Codec Pro Ultra-Bold"/>
                <a:cs typeface="Codec Pro Ultra-Bold"/>
                <a:sym typeface="Codec Pro Ultra-Bold"/>
              </a:rPr>
              <a:t>HOME INVENTORY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2452195" y="5234263"/>
            <a:ext cx="5542114" cy="5962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35"/>
              </a:lnSpc>
            </a:pPr>
            <a:r>
              <a:rPr lang="en-US" sz="3525" b="true">
                <a:solidFill>
                  <a:srgbClr val="182F5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Presented by Group-4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2827840" y="7174936"/>
            <a:ext cx="5459115" cy="10473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20"/>
              </a:lnSpc>
            </a:pPr>
            <a:r>
              <a:rPr lang="en-US" sz="3014" b="true">
                <a:solidFill>
                  <a:srgbClr val="182F5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ID-1841,1843,1844,1845,1846,</a:t>
            </a:r>
          </a:p>
          <a:p>
            <a:pPr algn="ctr">
              <a:lnSpc>
                <a:spcPts val="4220"/>
              </a:lnSpc>
              <a:spcBef>
                <a:spcPct val="0"/>
              </a:spcBef>
            </a:pPr>
            <a:r>
              <a:rPr lang="en-US" b="true" sz="3014">
                <a:solidFill>
                  <a:srgbClr val="182F5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    1847,1848,1849,1850,1851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D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151986" y="2659647"/>
            <a:ext cx="13368343" cy="5641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26111" indent="-313055" lvl="1">
              <a:lnSpc>
                <a:spcPts val="4060"/>
              </a:lnSpc>
              <a:buFont typeface="Arial"/>
              <a:buChar char="•"/>
            </a:pPr>
            <a:r>
              <a:rPr lang="en-US" sz="2900">
                <a:solidFill>
                  <a:srgbClr val="182F5B"/>
                </a:solidFill>
                <a:latin typeface="Canva Sans"/>
                <a:ea typeface="Canva Sans"/>
                <a:cs typeface="Canva Sans"/>
                <a:sym typeface="Canva Sans"/>
              </a:rPr>
              <a:t>A home inventory system helps users organize and manage household items efficiently.</a:t>
            </a:r>
          </a:p>
          <a:p>
            <a:pPr algn="just" marL="626111" indent="-313055" lvl="1">
              <a:lnSpc>
                <a:spcPts val="4060"/>
              </a:lnSpc>
              <a:buFont typeface="Arial"/>
              <a:buChar char="•"/>
            </a:pPr>
            <a:r>
              <a:rPr lang="en-US" sz="2900">
                <a:solidFill>
                  <a:srgbClr val="182F5B"/>
                </a:solidFill>
                <a:latin typeface="Canva Sans"/>
                <a:ea typeface="Canva Sans"/>
                <a:cs typeface="Canva Sans"/>
                <a:sym typeface="Canva Sans"/>
              </a:rPr>
              <a:t>It keeps track of important information such as item name, quantity, category, and price.</a:t>
            </a:r>
          </a:p>
          <a:p>
            <a:pPr algn="just" marL="626111" indent="-313055" lvl="1">
              <a:lnSpc>
                <a:spcPts val="4060"/>
              </a:lnSpc>
              <a:buFont typeface="Arial"/>
              <a:buChar char="•"/>
            </a:pPr>
            <a:r>
              <a:rPr lang="en-US" sz="2900">
                <a:solidFill>
                  <a:srgbClr val="182F5B"/>
                </a:solidFill>
                <a:latin typeface="Canva Sans"/>
                <a:ea typeface="Canva Sans"/>
                <a:cs typeface="Canva Sans"/>
                <a:sym typeface="Canva Sans"/>
              </a:rPr>
              <a:t>Managing household items manually can be time-consuming and difficult.</a:t>
            </a:r>
          </a:p>
          <a:p>
            <a:pPr algn="just" marL="626111" indent="-313055" lvl="1">
              <a:lnSpc>
                <a:spcPts val="4060"/>
              </a:lnSpc>
              <a:buFont typeface="Arial"/>
              <a:buChar char="•"/>
            </a:pPr>
            <a:r>
              <a:rPr lang="en-US" sz="2900">
                <a:solidFill>
                  <a:srgbClr val="182F5B"/>
                </a:solidFill>
                <a:latin typeface="Canva Sans"/>
                <a:ea typeface="Canva Sans"/>
                <a:cs typeface="Canva Sans"/>
                <a:sym typeface="Canva Sans"/>
              </a:rPr>
              <a:t>Our project provides a simple and user-friendly solution for managing home inventory.</a:t>
            </a:r>
          </a:p>
          <a:p>
            <a:pPr algn="just" marL="626111" indent="-313055" lvl="1">
              <a:lnSpc>
                <a:spcPts val="4060"/>
              </a:lnSpc>
              <a:buFont typeface="Arial"/>
              <a:buChar char="•"/>
            </a:pPr>
            <a:r>
              <a:rPr lang="en-US" sz="2900">
                <a:solidFill>
                  <a:srgbClr val="182F5B"/>
                </a:solidFill>
                <a:latin typeface="Canva Sans"/>
                <a:ea typeface="Canva Sans"/>
                <a:cs typeface="Canva Sans"/>
                <a:sym typeface="Canva Sans"/>
              </a:rPr>
              <a:t>The system is developed using Java and Object-Oriented Programming (OOP) concepts.</a:t>
            </a:r>
          </a:p>
          <a:p>
            <a:pPr algn="just">
              <a:lnSpc>
                <a:spcPts val="4060"/>
              </a:lnSpc>
            </a:pP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-779735" y="-916993"/>
            <a:ext cx="3969884" cy="2785026"/>
          </a:xfrm>
          <a:custGeom>
            <a:avLst/>
            <a:gdLst/>
            <a:ahLst/>
            <a:cxnLst/>
            <a:rect r="r" b="b" t="t" l="l"/>
            <a:pathLst>
              <a:path h="2785026" w="3969884">
                <a:moveTo>
                  <a:pt x="0" y="0"/>
                </a:moveTo>
                <a:lnTo>
                  <a:pt x="3969884" y="0"/>
                </a:lnTo>
                <a:lnTo>
                  <a:pt x="3969884" y="2785026"/>
                </a:lnTo>
                <a:lnTo>
                  <a:pt x="0" y="278502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-691765" y="1176268"/>
            <a:ext cx="1383530" cy="1383530"/>
            <a:chOff x="0" y="0"/>
            <a:chExt cx="364386" cy="36438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64386" cy="364386"/>
            </a:xfrm>
            <a:custGeom>
              <a:avLst/>
              <a:gdLst/>
              <a:ahLst/>
              <a:cxnLst/>
              <a:rect r="r" b="b" t="t" l="l"/>
              <a:pathLst>
                <a:path h="364386" w="364386">
                  <a:moveTo>
                    <a:pt x="0" y="0"/>
                  </a:moveTo>
                  <a:lnTo>
                    <a:pt x="364386" y="0"/>
                  </a:lnTo>
                  <a:lnTo>
                    <a:pt x="364386" y="364386"/>
                  </a:lnTo>
                  <a:lnTo>
                    <a:pt x="0" y="364386"/>
                  </a:lnTo>
                  <a:close/>
                </a:path>
              </a:pathLst>
            </a:custGeom>
            <a:solidFill>
              <a:srgbClr val="446EB2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364386" cy="4024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true" flipV="true" rot="0">
            <a:off x="15097851" y="8418967"/>
            <a:ext cx="3969884" cy="2785026"/>
          </a:xfrm>
          <a:custGeom>
            <a:avLst/>
            <a:gdLst/>
            <a:ahLst/>
            <a:cxnLst/>
            <a:rect r="r" b="b" t="t" l="l"/>
            <a:pathLst>
              <a:path h="2785026" w="3969884">
                <a:moveTo>
                  <a:pt x="3969884" y="2785026"/>
                </a:moveTo>
                <a:lnTo>
                  <a:pt x="0" y="2785026"/>
                </a:lnTo>
                <a:lnTo>
                  <a:pt x="0" y="0"/>
                </a:lnTo>
                <a:lnTo>
                  <a:pt x="3969884" y="0"/>
                </a:lnTo>
                <a:lnTo>
                  <a:pt x="3969884" y="278502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7596235" y="7727202"/>
            <a:ext cx="1383530" cy="1383530"/>
            <a:chOff x="0" y="0"/>
            <a:chExt cx="364386" cy="36438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64386" cy="364386"/>
            </a:xfrm>
            <a:custGeom>
              <a:avLst/>
              <a:gdLst/>
              <a:ahLst/>
              <a:cxnLst/>
              <a:rect r="r" b="b" t="t" l="l"/>
              <a:pathLst>
                <a:path h="364386" w="364386">
                  <a:moveTo>
                    <a:pt x="0" y="0"/>
                  </a:moveTo>
                  <a:lnTo>
                    <a:pt x="364386" y="0"/>
                  </a:lnTo>
                  <a:lnTo>
                    <a:pt x="364386" y="364386"/>
                  </a:lnTo>
                  <a:lnTo>
                    <a:pt x="0" y="364386"/>
                  </a:lnTo>
                  <a:close/>
                </a:path>
              </a:pathLst>
            </a:custGeom>
            <a:solidFill>
              <a:srgbClr val="446EB2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364386" cy="4024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7259300" y="-354830"/>
            <a:ext cx="1383530" cy="1383530"/>
            <a:chOff x="0" y="0"/>
            <a:chExt cx="364386" cy="36438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64386" cy="364386"/>
            </a:xfrm>
            <a:custGeom>
              <a:avLst/>
              <a:gdLst/>
              <a:ahLst/>
              <a:cxnLst/>
              <a:rect r="r" b="b" t="t" l="l"/>
              <a:pathLst>
                <a:path h="364386" w="364386">
                  <a:moveTo>
                    <a:pt x="0" y="0"/>
                  </a:moveTo>
                  <a:lnTo>
                    <a:pt x="364386" y="0"/>
                  </a:lnTo>
                  <a:lnTo>
                    <a:pt x="364386" y="364386"/>
                  </a:lnTo>
                  <a:lnTo>
                    <a:pt x="0" y="364386"/>
                  </a:lnTo>
                  <a:close/>
                </a:path>
              </a:pathLst>
            </a:custGeom>
            <a:solidFill>
              <a:srgbClr val="446EB2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364386" cy="4024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-354830" y="9258300"/>
            <a:ext cx="1383530" cy="1383530"/>
            <a:chOff x="0" y="0"/>
            <a:chExt cx="364386" cy="36438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64386" cy="364386"/>
            </a:xfrm>
            <a:custGeom>
              <a:avLst/>
              <a:gdLst/>
              <a:ahLst/>
              <a:cxnLst/>
              <a:rect r="r" b="b" t="t" l="l"/>
              <a:pathLst>
                <a:path h="364386" w="364386">
                  <a:moveTo>
                    <a:pt x="0" y="0"/>
                  </a:moveTo>
                  <a:lnTo>
                    <a:pt x="364386" y="0"/>
                  </a:lnTo>
                  <a:lnTo>
                    <a:pt x="364386" y="364386"/>
                  </a:lnTo>
                  <a:lnTo>
                    <a:pt x="0" y="364386"/>
                  </a:lnTo>
                  <a:close/>
                </a:path>
              </a:pathLst>
            </a:custGeom>
            <a:solidFill>
              <a:srgbClr val="446EB2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364386" cy="4024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2327391" y="1392345"/>
            <a:ext cx="12616539" cy="888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76"/>
              </a:lnSpc>
            </a:pPr>
            <a:r>
              <a:rPr lang="en-US" b="true" sz="4769">
                <a:solidFill>
                  <a:srgbClr val="182F5B"/>
                </a:solidFill>
                <a:latin typeface="Codec Pro Ultra-Bold"/>
                <a:ea typeface="Codec Pro Ultra-Bold"/>
                <a:cs typeface="Codec Pro Ultra-Bold"/>
                <a:sym typeface="Codec Pro Ultra-Bold"/>
              </a:rPr>
              <a:t> </a:t>
            </a:r>
            <a:r>
              <a:rPr lang="en-US" sz="4769" b="true">
                <a:solidFill>
                  <a:srgbClr val="182F5B"/>
                </a:solidFill>
                <a:latin typeface="Codec Pro Ultra-Bold"/>
                <a:ea typeface="Codec Pro Ultra-Bold"/>
                <a:cs typeface="Codec Pro Ultra-Bold"/>
                <a:sym typeface="Codec Pro Ultra-Bold"/>
              </a:rPr>
              <a:t>Home Inventory Man</a:t>
            </a:r>
            <a:r>
              <a:rPr lang="en-US" b="true" sz="4769">
                <a:solidFill>
                  <a:srgbClr val="182F5B"/>
                </a:solidFill>
                <a:latin typeface="Codec Pro Ultra-Bold"/>
                <a:ea typeface="Codec Pro Ultra-Bold"/>
                <a:cs typeface="Codec Pro Ultra-Bold"/>
                <a:sym typeface="Codec Pro Ultra-Bold"/>
              </a:rPr>
              <a:t>AGEMENT SYSTEM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D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15097851" y="8418967"/>
            <a:ext cx="3969884" cy="2785026"/>
          </a:xfrm>
          <a:custGeom>
            <a:avLst/>
            <a:gdLst/>
            <a:ahLst/>
            <a:cxnLst/>
            <a:rect r="r" b="b" t="t" l="l"/>
            <a:pathLst>
              <a:path h="2785026" w="3969884">
                <a:moveTo>
                  <a:pt x="3969884" y="2785026"/>
                </a:moveTo>
                <a:lnTo>
                  <a:pt x="0" y="2785026"/>
                </a:lnTo>
                <a:lnTo>
                  <a:pt x="0" y="0"/>
                </a:lnTo>
                <a:lnTo>
                  <a:pt x="3969884" y="0"/>
                </a:lnTo>
                <a:lnTo>
                  <a:pt x="3969884" y="278502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7596235" y="7727202"/>
            <a:ext cx="1383530" cy="1383530"/>
            <a:chOff x="0" y="0"/>
            <a:chExt cx="364386" cy="36438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64386" cy="364386"/>
            </a:xfrm>
            <a:custGeom>
              <a:avLst/>
              <a:gdLst/>
              <a:ahLst/>
              <a:cxnLst/>
              <a:rect r="r" b="b" t="t" l="l"/>
              <a:pathLst>
                <a:path h="364386" w="364386">
                  <a:moveTo>
                    <a:pt x="0" y="0"/>
                  </a:moveTo>
                  <a:lnTo>
                    <a:pt x="364386" y="0"/>
                  </a:lnTo>
                  <a:lnTo>
                    <a:pt x="364386" y="364386"/>
                  </a:lnTo>
                  <a:lnTo>
                    <a:pt x="0" y="364386"/>
                  </a:lnTo>
                  <a:close/>
                </a:path>
              </a:pathLst>
            </a:custGeom>
            <a:solidFill>
              <a:srgbClr val="446EB2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364386" cy="4024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-779735" y="-916993"/>
            <a:ext cx="3969884" cy="2785026"/>
          </a:xfrm>
          <a:custGeom>
            <a:avLst/>
            <a:gdLst/>
            <a:ahLst/>
            <a:cxnLst/>
            <a:rect r="r" b="b" t="t" l="l"/>
            <a:pathLst>
              <a:path h="2785026" w="3969884">
                <a:moveTo>
                  <a:pt x="0" y="0"/>
                </a:moveTo>
                <a:lnTo>
                  <a:pt x="3969884" y="0"/>
                </a:lnTo>
                <a:lnTo>
                  <a:pt x="3969884" y="2785026"/>
                </a:lnTo>
                <a:lnTo>
                  <a:pt x="0" y="278502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-691765" y="1176268"/>
            <a:ext cx="1383530" cy="1383530"/>
            <a:chOff x="0" y="0"/>
            <a:chExt cx="364386" cy="36438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64386" cy="364386"/>
            </a:xfrm>
            <a:custGeom>
              <a:avLst/>
              <a:gdLst/>
              <a:ahLst/>
              <a:cxnLst/>
              <a:rect r="r" b="b" t="t" l="l"/>
              <a:pathLst>
                <a:path h="364386" w="364386">
                  <a:moveTo>
                    <a:pt x="0" y="0"/>
                  </a:moveTo>
                  <a:lnTo>
                    <a:pt x="364386" y="0"/>
                  </a:lnTo>
                  <a:lnTo>
                    <a:pt x="364386" y="364386"/>
                  </a:lnTo>
                  <a:lnTo>
                    <a:pt x="0" y="364386"/>
                  </a:lnTo>
                  <a:close/>
                </a:path>
              </a:pathLst>
            </a:custGeom>
            <a:solidFill>
              <a:srgbClr val="446EB2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364386" cy="4024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984942" y="1081432"/>
            <a:ext cx="14274421" cy="7627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31"/>
              </a:lnSpc>
            </a:pPr>
            <a:r>
              <a:rPr lang="en-US" b="true" sz="4093">
                <a:solidFill>
                  <a:srgbClr val="182F5B"/>
                </a:solidFill>
                <a:latin typeface="Codec Pro Ultra-Bold"/>
                <a:ea typeface="Codec Pro Ultra-Bold"/>
                <a:cs typeface="Codec Pro Ultra-Bold"/>
                <a:sym typeface="Codec Pro Ultra-Bold"/>
              </a:rPr>
              <a:t>ISSUES WITH TRADITIONAL INVEN</a:t>
            </a:r>
            <a:r>
              <a:rPr lang="en-US" b="true" sz="4093">
                <a:solidFill>
                  <a:srgbClr val="182F5B"/>
                </a:solidFill>
                <a:latin typeface="Codec Pro Ultra-Bold"/>
                <a:ea typeface="Codec Pro Ultra-Bold"/>
                <a:cs typeface="Codec Pro Ultra-Bold"/>
                <a:sym typeface="Codec Pro Ultra-Bold"/>
              </a:rPr>
              <a:t>TORY TRACKING</a:t>
            </a:r>
          </a:p>
        </p:txBody>
      </p:sp>
      <p:sp>
        <p:nvSpPr>
          <p:cNvPr name="AutoShape 11" id="11"/>
          <p:cNvSpPr/>
          <p:nvPr/>
        </p:nvSpPr>
        <p:spPr>
          <a:xfrm>
            <a:off x="4355000" y="5291138"/>
            <a:ext cx="9856956" cy="0"/>
          </a:xfrm>
          <a:prstGeom prst="line">
            <a:avLst/>
          </a:prstGeom>
          <a:ln cap="flat" w="28575">
            <a:solidFill>
              <a:srgbClr val="182F5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2" id="12"/>
          <p:cNvSpPr/>
          <p:nvPr/>
        </p:nvSpPr>
        <p:spPr>
          <a:xfrm flipH="true">
            <a:off x="4369287" y="4372298"/>
            <a:ext cx="0" cy="895027"/>
          </a:xfrm>
          <a:prstGeom prst="line">
            <a:avLst/>
          </a:prstGeom>
          <a:ln cap="flat" w="28575">
            <a:solidFill>
              <a:srgbClr val="182F5B"/>
            </a:solidFill>
            <a:prstDash val="solid"/>
            <a:headEnd type="oval" len="lg" w="lg"/>
            <a:tailEnd type="none" len="sm" w="sm"/>
          </a:ln>
        </p:spPr>
      </p:sp>
      <p:sp>
        <p:nvSpPr>
          <p:cNvPr name="AutoShape 13" id="13"/>
          <p:cNvSpPr/>
          <p:nvPr/>
        </p:nvSpPr>
        <p:spPr>
          <a:xfrm flipV="true">
            <a:off x="7525402" y="5312083"/>
            <a:ext cx="0" cy="895027"/>
          </a:xfrm>
          <a:prstGeom prst="line">
            <a:avLst/>
          </a:prstGeom>
          <a:ln cap="flat" w="28575">
            <a:solidFill>
              <a:srgbClr val="182F5B"/>
            </a:solidFill>
            <a:prstDash val="solid"/>
            <a:headEnd type="oval" len="lg" w="lg"/>
            <a:tailEnd type="none" len="sm" w="sm"/>
          </a:ln>
        </p:spPr>
      </p:sp>
      <p:sp>
        <p:nvSpPr>
          <p:cNvPr name="AutoShape 14" id="14"/>
          <p:cNvSpPr/>
          <p:nvPr/>
        </p:nvSpPr>
        <p:spPr>
          <a:xfrm flipV="true">
            <a:off x="14192438" y="5312083"/>
            <a:ext cx="0" cy="895027"/>
          </a:xfrm>
          <a:prstGeom prst="line">
            <a:avLst/>
          </a:prstGeom>
          <a:ln cap="flat" w="28575">
            <a:solidFill>
              <a:srgbClr val="182F5B"/>
            </a:solidFill>
            <a:prstDash val="solid"/>
            <a:headEnd type="oval" len="lg" w="lg"/>
            <a:tailEnd type="none" len="sm" w="sm"/>
          </a:ln>
        </p:spPr>
      </p:sp>
      <p:sp>
        <p:nvSpPr>
          <p:cNvPr name="AutoShape 15" id="15"/>
          <p:cNvSpPr/>
          <p:nvPr/>
        </p:nvSpPr>
        <p:spPr>
          <a:xfrm flipH="true">
            <a:off x="10797007" y="4372298"/>
            <a:ext cx="0" cy="895027"/>
          </a:xfrm>
          <a:prstGeom prst="line">
            <a:avLst/>
          </a:prstGeom>
          <a:ln cap="flat" w="28575">
            <a:solidFill>
              <a:srgbClr val="182F5B"/>
            </a:solidFill>
            <a:prstDash val="solid"/>
            <a:headEnd type="oval" len="lg" w="lg"/>
            <a:tailEnd type="none" len="sm" w="sm"/>
          </a:ln>
        </p:spPr>
      </p:sp>
      <p:sp>
        <p:nvSpPr>
          <p:cNvPr name="TextBox 16" id="16"/>
          <p:cNvSpPr txBox="true"/>
          <p:nvPr/>
        </p:nvSpPr>
        <p:spPr>
          <a:xfrm rot="0">
            <a:off x="2995599" y="2758723"/>
            <a:ext cx="4950649" cy="14697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87"/>
              </a:lnSpc>
            </a:pPr>
            <a:r>
              <a:rPr lang="en-US" sz="2134" b="true">
                <a:solidFill>
                  <a:srgbClr val="182F5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Difficulty</a:t>
            </a:r>
            <a:r>
              <a:rPr lang="en-US" sz="2134" b="true">
                <a:solidFill>
                  <a:srgbClr val="182F5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in Managing Household</a:t>
            </a:r>
            <a:r>
              <a:rPr lang="en-US" sz="2134">
                <a:solidFill>
                  <a:srgbClr val="182F5B"/>
                </a:solidFill>
                <a:latin typeface="Canva Sans"/>
                <a:ea typeface="Canva Sans"/>
                <a:cs typeface="Canva Sans"/>
                <a:sym typeface="Canva Sans"/>
              </a:rPr>
              <a:t> Managing and tracking a large number of household items manually is time-consuming and inconvenient.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543352" y="2568223"/>
            <a:ext cx="1452246" cy="12478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444"/>
              </a:lnSpc>
            </a:pPr>
            <a:r>
              <a:rPr lang="en-US" b="true" sz="6746">
                <a:solidFill>
                  <a:srgbClr val="182F5B"/>
                </a:solidFill>
                <a:latin typeface="Codec Pro Ultra-Bold"/>
                <a:ea typeface="Codec Pro Ultra-Bold"/>
                <a:cs typeface="Codec Pro Ultra-Bold"/>
                <a:sym typeface="Codec Pro Ultra-Bold"/>
              </a:rPr>
              <a:t>01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122039" y="6178534"/>
            <a:ext cx="4243240" cy="12186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81"/>
              </a:lnSpc>
            </a:pPr>
            <a:r>
              <a:rPr lang="en-US" sz="2129">
                <a:solidFill>
                  <a:srgbClr val="182F5B"/>
                </a:solidFill>
                <a:latin typeface="Canva Sans"/>
                <a:ea typeface="Canva Sans"/>
                <a:cs typeface="Canva Sans"/>
                <a:sym typeface="Canva Sans"/>
              </a:rPr>
              <a:t>N</a:t>
            </a:r>
            <a:r>
              <a:rPr lang="en-US" sz="2129" b="true">
                <a:solidFill>
                  <a:srgbClr val="182F5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 Easy Low-Stock Monitoring</a:t>
            </a:r>
          </a:p>
          <a:p>
            <a:pPr algn="l">
              <a:lnSpc>
                <a:spcPts val="2323"/>
              </a:lnSpc>
            </a:pPr>
            <a:r>
              <a:rPr lang="en-US" sz="1659">
                <a:solidFill>
                  <a:srgbClr val="182F5B"/>
                </a:solidFill>
                <a:latin typeface="Canva Sans"/>
                <a:ea typeface="Canva Sans"/>
                <a:cs typeface="Canva Sans"/>
                <a:sym typeface="Canva Sans"/>
              </a:rPr>
              <a:t>Identifying items with low quantities can be difficult, which may lead to unexpected shortages.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4641218" y="5961790"/>
            <a:ext cx="1452246" cy="12478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444"/>
              </a:lnSpc>
            </a:pPr>
            <a:r>
              <a:rPr lang="en-US" b="true" sz="6746">
                <a:solidFill>
                  <a:srgbClr val="182F5B"/>
                </a:solidFill>
                <a:latin typeface="Codec Pro Ultra-Bold"/>
                <a:ea typeface="Codec Pro Ultra-Bold"/>
                <a:cs typeface="Codec Pro Ultra-Bold"/>
                <a:sym typeface="Codec Pro Ultra-Bold"/>
              </a:rPr>
              <a:t>02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912895" y="2758620"/>
            <a:ext cx="4925963" cy="14698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81"/>
              </a:lnSpc>
            </a:pPr>
            <a:r>
              <a:rPr lang="en-US" sz="2129">
                <a:solidFill>
                  <a:srgbClr val="182F5B"/>
                </a:solidFill>
                <a:latin typeface="Canva Sans"/>
                <a:ea typeface="Canva Sans"/>
                <a:cs typeface="Canva Sans"/>
                <a:sym typeface="Canva Sans"/>
              </a:rPr>
              <a:t>L</a:t>
            </a:r>
            <a:r>
              <a:rPr lang="en-US" sz="2129" b="true">
                <a:solidFill>
                  <a:srgbClr val="182F5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ack of Proper Inventory Tracking</a:t>
            </a:r>
          </a:p>
          <a:p>
            <a:pPr algn="l">
              <a:lnSpc>
                <a:spcPts val="2981"/>
              </a:lnSpc>
            </a:pPr>
            <a:r>
              <a:rPr lang="en-US" sz="2129">
                <a:solidFill>
                  <a:srgbClr val="182F5B"/>
                </a:solidFill>
                <a:latin typeface="Canva Sans"/>
                <a:ea typeface="Canva Sans"/>
                <a:cs typeface="Canva Sans"/>
                <a:sym typeface="Canva Sans"/>
              </a:rPr>
              <a:t>It is difficult to keep track of item quantity, location, category, and price efficiently.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8417877" y="2568223"/>
            <a:ext cx="1452246" cy="12478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444"/>
              </a:lnSpc>
            </a:pPr>
            <a:r>
              <a:rPr lang="en-US" b="true" sz="6746">
                <a:solidFill>
                  <a:srgbClr val="182F5B"/>
                </a:solidFill>
                <a:latin typeface="Codec Pro Ultra-Bold"/>
                <a:ea typeface="Codec Pro Ultra-Bold"/>
                <a:cs typeface="Codec Pro Ultra-Bold"/>
                <a:sym typeface="Codec Pro Ultra-Bold"/>
              </a:rPr>
              <a:t>03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588290" y="6178534"/>
            <a:ext cx="5443175" cy="14698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81"/>
              </a:lnSpc>
            </a:pPr>
            <a:r>
              <a:rPr lang="en-US" sz="2129" b="true">
                <a:solidFill>
                  <a:srgbClr val="182F5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Manag</a:t>
            </a:r>
            <a:r>
              <a:rPr lang="en-US" sz="2129" b="true">
                <a:solidFill>
                  <a:srgbClr val="182F5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ing Multiple Homes is Difficult</a:t>
            </a:r>
          </a:p>
          <a:p>
            <a:pPr algn="l">
              <a:lnSpc>
                <a:spcPts val="2981"/>
              </a:lnSpc>
            </a:pPr>
            <a:r>
              <a:rPr lang="en-US" sz="2129">
                <a:solidFill>
                  <a:srgbClr val="182F5B"/>
                </a:solidFill>
                <a:latin typeface="Canva Sans"/>
                <a:ea typeface="Canva Sans"/>
                <a:cs typeface="Canva Sans"/>
                <a:sym typeface="Canva Sans"/>
              </a:rPr>
              <a:t>Managing inventories across multiple homes and different rooms separately can be complicated.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1126519" y="6068698"/>
            <a:ext cx="1452246" cy="12478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444"/>
              </a:lnSpc>
            </a:pPr>
            <a:r>
              <a:rPr lang="en-US" b="true" sz="6746">
                <a:solidFill>
                  <a:srgbClr val="182F5B"/>
                </a:solidFill>
                <a:latin typeface="Codec Pro Ultra-Bold"/>
                <a:ea typeface="Codec Pro Ultra-Bold"/>
                <a:cs typeface="Codec Pro Ultra-Bold"/>
                <a:sym typeface="Codec Pro Ultra-Bold"/>
              </a:rPr>
              <a:t>04</a:t>
            </a:r>
          </a:p>
        </p:txBody>
      </p:sp>
      <p:sp>
        <p:nvSpPr>
          <p:cNvPr name="Freeform 24" id="24"/>
          <p:cNvSpPr/>
          <p:nvPr/>
        </p:nvSpPr>
        <p:spPr>
          <a:xfrm flipH="false" flipV="false" rot="0">
            <a:off x="-1984942" y="8057181"/>
            <a:ext cx="3969884" cy="2785026"/>
          </a:xfrm>
          <a:custGeom>
            <a:avLst/>
            <a:gdLst/>
            <a:ahLst/>
            <a:cxnLst/>
            <a:rect r="r" b="b" t="t" l="l"/>
            <a:pathLst>
              <a:path h="2785026" w="3969884">
                <a:moveTo>
                  <a:pt x="0" y="0"/>
                </a:moveTo>
                <a:lnTo>
                  <a:pt x="3969884" y="0"/>
                </a:lnTo>
                <a:lnTo>
                  <a:pt x="3969884" y="2785026"/>
                </a:lnTo>
                <a:lnTo>
                  <a:pt x="0" y="278502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true" flipV="true" rot="0">
            <a:off x="16303058" y="-555207"/>
            <a:ext cx="3969884" cy="2785026"/>
          </a:xfrm>
          <a:custGeom>
            <a:avLst/>
            <a:gdLst/>
            <a:ahLst/>
            <a:cxnLst/>
            <a:rect r="r" b="b" t="t" l="l"/>
            <a:pathLst>
              <a:path h="2785026" w="3969884">
                <a:moveTo>
                  <a:pt x="3969884" y="2785026"/>
                </a:moveTo>
                <a:lnTo>
                  <a:pt x="0" y="2785026"/>
                </a:lnTo>
                <a:lnTo>
                  <a:pt x="0" y="0"/>
                </a:lnTo>
                <a:lnTo>
                  <a:pt x="3969884" y="0"/>
                </a:lnTo>
                <a:lnTo>
                  <a:pt x="3969884" y="278502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D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611986" y="1781289"/>
            <a:ext cx="5388621" cy="778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40"/>
              </a:lnSpc>
            </a:pPr>
            <a:r>
              <a:rPr lang="en-US" sz="4600" b="true">
                <a:solidFill>
                  <a:srgbClr val="182F5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</a:t>
            </a:r>
            <a:r>
              <a:rPr lang="en-US" sz="4600" b="true">
                <a:solidFill>
                  <a:srgbClr val="182F5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bjectives</a:t>
            </a:r>
          </a:p>
        </p:txBody>
      </p:sp>
      <p:sp>
        <p:nvSpPr>
          <p:cNvPr name="Freeform 3" id="3"/>
          <p:cNvSpPr/>
          <p:nvPr/>
        </p:nvSpPr>
        <p:spPr>
          <a:xfrm flipH="true" flipV="true" rot="0">
            <a:off x="15097851" y="8418967"/>
            <a:ext cx="3969884" cy="2785026"/>
          </a:xfrm>
          <a:custGeom>
            <a:avLst/>
            <a:gdLst/>
            <a:ahLst/>
            <a:cxnLst/>
            <a:rect r="r" b="b" t="t" l="l"/>
            <a:pathLst>
              <a:path h="2785026" w="3969884">
                <a:moveTo>
                  <a:pt x="3969884" y="2785026"/>
                </a:moveTo>
                <a:lnTo>
                  <a:pt x="0" y="2785026"/>
                </a:lnTo>
                <a:lnTo>
                  <a:pt x="0" y="0"/>
                </a:lnTo>
                <a:lnTo>
                  <a:pt x="3969884" y="0"/>
                </a:lnTo>
                <a:lnTo>
                  <a:pt x="3969884" y="278502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7596235" y="7727202"/>
            <a:ext cx="1383530" cy="1383530"/>
            <a:chOff x="0" y="0"/>
            <a:chExt cx="364386" cy="36438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64386" cy="364386"/>
            </a:xfrm>
            <a:custGeom>
              <a:avLst/>
              <a:gdLst/>
              <a:ahLst/>
              <a:cxnLst/>
              <a:rect r="r" b="b" t="t" l="l"/>
              <a:pathLst>
                <a:path h="364386" w="364386">
                  <a:moveTo>
                    <a:pt x="0" y="0"/>
                  </a:moveTo>
                  <a:lnTo>
                    <a:pt x="364386" y="0"/>
                  </a:lnTo>
                  <a:lnTo>
                    <a:pt x="364386" y="364386"/>
                  </a:lnTo>
                  <a:lnTo>
                    <a:pt x="0" y="364386"/>
                  </a:lnTo>
                  <a:close/>
                </a:path>
              </a:pathLst>
            </a:custGeom>
            <a:solidFill>
              <a:srgbClr val="446EB2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364386" cy="4024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-779735" y="-916993"/>
            <a:ext cx="3969884" cy="2785026"/>
          </a:xfrm>
          <a:custGeom>
            <a:avLst/>
            <a:gdLst/>
            <a:ahLst/>
            <a:cxnLst/>
            <a:rect r="r" b="b" t="t" l="l"/>
            <a:pathLst>
              <a:path h="2785026" w="3969884">
                <a:moveTo>
                  <a:pt x="0" y="0"/>
                </a:moveTo>
                <a:lnTo>
                  <a:pt x="3969884" y="0"/>
                </a:lnTo>
                <a:lnTo>
                  <a:pt x="3969884" y="2785026"/>
                </a:lnTo>
                <a:lnTo>
                  <a:pt x="0" y="278502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-691765" y="1176268"/>
            <a:ext cx="1383530" cy="1383530"/>
            <a:chOff x="0" y="0"/>
            <a:chExt cx="364386" cy="36438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64386" cy="364386"/>
            </a:xfrm>
            <a:custGeom>
              <a:avLst/>
              <a:gdLst/>
              <a:ahLst/>
              <a:cxnLst/>
              <a:rect r="r" b="b" t="t" l="l"/>
              <a:pathLst>
                <a:path h="364386" w="364386">
                  <a:moveTo>
                    <a:pt x="0" y="0"/>
                  </a:moveTo>
                  <a:lnTo>
                    <a:pt x="364386" y="0"/>
                  </a:lnTo>
                  <a:lnTo>
                    <a:pt x="364386" y="364386"/>
                  </a:lnTo>
                  <a:lnTo>
                    <a:pt x="0" y="364386"/>
                  </a:lnTo>
                  <a:close/>
                </a:path>
              </a:pathLst>
            </a:custGeom>
            <a:solidFill>
              <a:srgbClr val="446EB2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364386" cy="4024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7259300" y="-354830"/>
            <a:ext cx="1383530" cy="1383530"/>
            <a:chOff x="0" y="0"/>
            <a:chExt cx="364386" cy="36438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64386" cy="364386"/>
            </a:xfrm>
            <a:custGeom>
              <a:avLst/>
              <a:gdLst/>
              <a:ahLst/>
              <a:cxnLst/>
              <a:rect r="r" b="b" t="t" l="l"/>
              <a:pathLst>
                <a:path h="364386" w="364386">
                  <a:moveTo>
                    <a:pt x="0" y="0"/>
                  </a:moveTo>
                  <a:lnTo>
                    <a:pt x="364386" y="0"/>
                  </a:lnTo>
                  <a:lnTo>
                    <a:pt x="364386" y="364386"/>
                  </a:lnTo>
                  <a:lnTo>
                    <a:pt x="0" y="364386"/>
                  </a:lnTo>
                  <a:close/>
                </a:path>
              </a:pathLst>
            </a:custGeom>
            <a:solidFill>
              <a:srgbClr val="446EB2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364386" cy="4024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-354830" y="9258300"/>
            <a:ext cx="1383530" cy="1383530"/>
            <a:chOff x="0" y="0"/>
            <a:chExt cx="364386" cy="36438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64386" cy="364386"/>
            </a:xfrm>
            <a:custGeom>
              <a:avLst/>
              <a:gdLst/>
              <a:ahLst/>
              <a:cxnLst/>
              <a:rect r="r" b="b" t="t" l="l"/>
              <a:pathLst>
                <a:path h="364386" w="364386">
                  <a:moveTo>
                    <a:pt x="0" y="0"/>
                  </a:moveTo>
                  <a:lnTo>
                    <a:pt x="364386" y="0"/>
                  </a:lnTo>
                  <a:lnTo>
                    <a:pt x="364386" y="364386"/>
                  </a:lnTo>
                  <a:lnTo>
                    <a:pt x="0" y="364386"/>
                  </a:lnTo>
                  <a:close/>
                </a:path>
              </a:pathLst>
            </a:custGeom>
            <a:solidFill>
              <a:srgbClr val="446EB2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364386" cy="4024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780042" y="2730738"/>
            <a:ext cx="8363958" cy="21876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74382" indent="-337191" lvl="1">
              <a:lnSpc>
                <a:spcPts val="4373"/>
              </a:lnSpc>
              <a:buFont typeface="Arial"/>
              <a:buChar char="•"/>
            </a:pPr>
            <a:r>
              <a:rPr lang="en-US" sz="3123">
                <a:solidFill>
                  <a:srgbClr val="182F5B"/>
                </a:solidFill>
                <a:latin typeface="Canva Sans"/>
                <a:ea typeface="Canva Sans"/>
                <a:cs typeface="Canva Sans"/>
                <a:sym typeface="Canva Sans"/>
              </a:rPr>
              <a:t>Centralized Invent</a:t>
            </a:r>
            <a:r>
              <a:rPr lang="en-US" sz="3123">
                <a:solidFill>
                  <a:srgbClr val="182F5B"/>
                </a:solidFill>
                <a:latin typeface="Canva Sans"/>
                <a:ea typeface="Canva Sans"/>
                <a:cs typeface="Canva Sans"/>
                <a:sym typeface="Canva Sans"/>
              </a:rPr>
              <a:t>ory Management</a:t>
            </a:r>
          </a:p>
          <a:p>
            <a:pPr algn="l" marL="674382" indent="-337191" lvl="1">
              <a:lnSpc>
                <a:spcPts val="4373"/>
              </a:lnSpc>
              <a:buFont typeface="Arial"/>
              <a:buChar char="•"/>
            </a:pPr>
            <a:r>
              <a:rPr lang="en-US" sz="3123">
                <a:solidFill>
                  <a:srgbClr val="182F5B"/>
                </a:solidFill>
                <a:latin typeface="Canva Sans"/>
                <a:ea typeface="Canva Sans"/>
                <a:cs typeface="Canva Sans"/>
                <a:sym typeface="Canva Sans"/>
              </a:rPr>
              <a:t>Easy Home &amp; Room Organization</a:t>
            </a:r>
          </a:p>
          <a:p>
            <a:pPr algn="l" marL="674382" indent="-337191" lvl="1">
              <a:lnSpc>
                <a:spcPts val="4373"/>
              </a:lnSpc>
              <a:buFont typeface="Arial"/>
              <a:buChar char="•"/>
            </a:pPr>
            <a:r>
              <a:rPr lang="en-US" sz="3123">
                <a:solidFill>
                  <a:srgbClr val="182F5B"/>
                </a:solidFill>
                <a:latin typeface="Canva Sans"/>
                <a:ea typeface="Canva Sans"/>
                <a:cs typeface="Canva Sans"/>
                <a:sym typeface="Canva Sans"/>
              </a:rPr>
              <a:t>Efficient Item Tracking</a:t>
            </a:r>
          </a:p>
          <a:p>
            <a:pPr algn="l" marL="674382" indent="-337191" lvl="1">
              <a:lnSpc>
                <a:spcPts val="4373"/>
              </a:lnSpc>
              <a:buFont typeface="Arial"/>
              <a:buChar char="•"/>
            </a:pPr>
            <a:r>
              <a:rPr lang="en-US" sz="3123">
                <a:solidFill>
                  <a:srgbClr val="182F5B"/>
                </a:solidFill>
                <a:latin typeface="Canva Sans"/>
                <a:ea typeface="Canva Sans"/>
                <a:cs typeface="Canva Sans"/>
                <a:sym typeface="Canva Sans"/>
              </a:rPr>
              <a:t>Quick Access to Inventory Information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980854" y="1847964"/>
            <a:ext cx="3700860" cy="778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39"/>
              </a:lnSpc>
            </a:pPr>
            <a:r>
              <a:rPr lang="en-US" sz="4599" b="true">
                <a:solidFill>
                  <a:srgbClr val="182F5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Key F</a:t>
            </a:r>
            <a:r>
              <a:rPr lang="en-US" b="true" sz="4599">
                <a:solidFill>
                  <a:srgbClr val="182F5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eatures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485167" y="2730738"/>
            <a:ext cx="6169720" cy="43975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73608" indent="-336804" lvl="1">
              <a:lnSpc>
                <a:spcPts val="4368"/>
              </a:lnSpc>
              <a:buFont typeface="Arial"/>
              <a:buChar char="•"/>
            </a:pPr>
            <a:r>
              <a:rPr lang="en-US" sz="3120">
                <a:solidFill>
                  <a:srgbClr val="182F5B"/>
                </a:solidFill>
                <a:latin typeface="Canva Sans"/>
                <a:ea typeface="Canva Sans"/>
                <a:cs typeface="Canva Sans"/>
                <a:sym typeface="Canva Sans"/>
              </a:rPr>
              <a:t>User Registrati</a:t>
            </a:r>
            <a:r>
              <a:rPr lang="en-US" sz="3120">
                <a:solidFill>
                  <a:srgbClr val="182F5B"/>
                </a:solidFill>
                <a:latin typeface="Canva Sans"/>
                <a:ea typeface="Canva Sans"/>
                <a:cs typeface="Canva Sans"/>
                <a:sym typeface="Canva Sans"/>
              </a:rPr>
              <a:t>on &amp; Login</a:t>
            </a:r>
          </a:p>
          <a:p>
            <a:pPr algn="l" marL="673608" indent="-336804" lvl="1">
              <a:lnSpc>
                <a:spcPts val="4368"/>
              </a:lnSpc>
              <a:buFont typeface="Arial"/>
              <a:buChar char="•"/>
            </a:pPr>
            <a:r>
              <a:rPr lang="en-US" sz="3120">
                <a:solidFill>
                  <a:srgbClr val="182F5B"/>
                </a:solidFill>
                <a:latin typeface="Canva Sans"/>
                <a:ea typeface="Canva Sans"/>
                <a:cs typeface="Canva Sans"/>
                <a:sym typeface="Canva Sans"/>
              </a:rPr>
              <a:t> Multiple Home Management</a:t>
            </a:r>
          </a:p>
          <a:p>
            <a:pPr algn="l" marL="673608" indent="-336804" lvl="1">
              <a:lnSpc>
                <a:spcPts val="4368"/>
              </a:lnSpc>
              <a:buFont typeface="Arial"/>
              <a:buChar char="•"/>
            </a:pPr>
            <a:r>
              <a:rPr lang="en-US" sz="3120">
                <a:solidFill>
                  <a:srgbClr val="182F5B"/>
                </a:solidFill>
                <a:latin typeface="Canva Sans"/>
                <a:ea typeface="Canva Sans"/>
                <a:cs typeface="Canva Sans"/>
                <a:sym typeface="Canva Sans"/>
              </a:rPr>
              <a:t>Room Management</a:t>
            </a:r>
          </a:p>
          <a:p>
            <a:pPr algn="l" marL="673608" indent="-336804" lvl="1">
              <a:lnSpc>
                <a:spcPts val="4368"/>
              </a:lnSpc>
              <a:buFont typeface="Arial"/>
              <a:buChar char="•"/>
            </a:pPr>
            <a:r>
              <a:rPr lang="en-US" sz="3120">
                <a:solidFill>
                  <a:srgbClr val="182F5B"/>
                </a:solidFill>
                <a:latin typeface="Canva Sans"/>
                <a:ea typeface="Canva Sans"/>
                <a:cs typeface="Canva Sans"/>
                <a:sym typeface="Canva Sans"/>
              </a:rPr>
              <a:t>Add, Update &amp; Delete Items</a:t>
            </a:r>
          </a:p>
          <a:p>
            <a:pPr algn="l" marL="673608" indent="-336804" lvl="1">
              <a:lnSpc>
                <a:spcPts val="4368"/>
              </a:lnSpc>
              <a:buFont typeface="Arial"/>
              <a:buChar char="•"/>
            </a:pPr>
            <a:r>
              <a:rPr lang="en-US" sz="3120">
                <a:solidFill>
                  <a:srgbClr val="182F5B"/>
                </a:solidFill>
                <a:latin typeface="Canva Sans"/>
                <a:ea typeface="Canva Sans"/>
                <a:cs typeface="Canva Sans"/>
                <a:sym typeface="Canva Sans"/>
              </a:rPr>
              <a:t>Search &amp; Filter Inventory</a:t>
            </a:r>
          </a:p>
          <a:p>
            <a:pPr algn="l" marL="673608" indent="-336804" lvl="1">
              <a:lnSpc>
                <a:spcPts val="4368"/>
              </a:lnSpc>
              <a:buFont typeface="Arial"/>
              <a:buChar char="•"/>
            </a:pPr>
            <a:r>
              <a:rPr lang="en-US" sz="3120">
                <a:solidFill>
                  <a:srgbClr val="182F5B"/>
                </a:solidFill>
                <a:latin typeface="Canva Sans"/>
                <a:ea typeface="Canva Sans"/>
                <a:cs typeface="Canva Sans"/>
                <a:sym typeface="Canva Sans"/>
              </a:rPr>
              <a:t>Inventory Value Calculation</a:t>
            </a:r>
          </a:p>
          <a:p>
            <a:pPr algn="l" marL="673608" indent="-336804" lvl="1">
              <a:lnSpc>
                <a:spcPts val="4368"/>
              </a:lnSpc>
              <a:buFont typeface="Arial"/>
              <a:buChar char="•"/>
            </a:pPr>
            <a:r>
              <a:rPr lang="en-US" sz="3120">
                <a:solidFill>
                  <a:srgbClr val="182F5B"/>
                </a:solidFill>
                <a:latin typeface="Canva Sans"/>
                <a:ea typeface="Canva Sans"/>
                <a:cs typeface="Canva Sans"/>
                <a:sym typeface="Canva Sans"/>
              </a:rPr>
              <a:t>Low-Stock Alerts</a:t>
            </a:r>
          </a:p>
          <a:p>
            <a:pPr algn="l">
              <a:lnSpc>
                <a:spcPts val="4368"/>
              </a:lnSpc>
            </a:pPr>
          </a:p>
        </p:txBody>
      </p:sp>
      <p:sp>
        <p:nvSpPr>
          <p:cNvPr name="TextBox 20" id="20"/>
          <p:cNvSpPr txBox="true"/>
          <p:nvPr/>
        </p:nvSpPr>
        <p:spPr>
          <a:xfrm rot="0">
            <a:off x="1028700" y="7128240"/>
            <a:ext cx="13681770" cy="16625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07"/>
              </a:lnSpc>
            </a:pPr>
            <a:r>
              <a:rPr lang="en-US" sz="3219" b="true">
                <a:solidFill>
                  <a:srgbClr val="182F5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G</a:t>
            </a:r>
            <a:r>
              <a:rPr lang="en-US" b="true" sz="3219">
                <a:solidFill>
                  <a:srgbClr val="182F5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oal:</a:t>
            </a:r>
          </a:p>
          <a:p>
            <a:pPr algn="l">
              <a:lnSpc>
                <a:spcPts val="4368"/>
              </a:lnSpc>
            </a:pPr>
            <a:r>
              <a:rPr lang="en-US" sz="3120">
                <a:solidFill>
                  <a:srgbClr val="182F5B"/>
                </a:solidFill>
                <a:latin typeface="Canva Sans"/>
                <a:ea typeface="Canva Sans"/>
                <a:cs typeface="Canva Sans"/>
                <a:sym typeface="Canva Sans"/>
              </a:rPr>
              <a:t>To provide a simple, organized, and user-friendly  solution for managing </a:t>
            </a:r>
          </a:p>
          <a:p>
            <a:pPr algn="l">
              <a:lnSpc>
                <a:spcPts val="4368"/>
              </a:lnSpc>
            </a:pPr>
            <a:r>
              <a:rPr lang="en-US" sz="3120">
                <a:solidFill>
                  <a:srgbClr val="182F5B"/>
                </a:solidFill>
                <a:latin typeface="Canva Sans"/>
                <a:ea typeface="Canva Sans"/>
                <a:cs typeface="Canva Sans"/>
                <a:sym typeface="Canva Sans"/>
              </a:rPr>
              <a:t>household inventory efficiently.</a:t>
            </a:r>
          </a:p>
        </p:txBody>
      </p:sp>
      <p:sp>
        <p:nvSpPr>
          <p:cNvPr name="Freeform 21" id="21"/>
          <p:cNvSpPr/>
          <p:nvPr/>
        </p:nvSpPr>
        <p:spPr>
          <a:xfrm flipH="false" flipV="false" rot="0">
            <a:off x="-627335" y="-764593"/>
            <a:ext cx="3969884" cy="2785026"/>
          </a:xfrm>
          <a:custGeom>
            <a:avLst/>
            <a:gdLst/>
            <a:ahLst/>
            <a:cxnLst/>
            <a:rect r="r" b="b" t="t" l="l"/>
            <a:pathLst>
              <a:path h="2785026" w="3969884">
                <a:moveTo>
                  <a:pt x="0" y="0"/>
                </a:moveTo>
                <a:lnTo>
                  <a:pt x="3969884" y="0"/>
                </a:lnTo>
                <a:lnTo>
                  <a:pt x="3969884" y="2785026"/>
                </a:lnTo>
                <a:lnTo>
                  <a:pt x="0" y="278502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D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779735" y="-916993"/>
            <a:ext cx="3969884" cy="2785026"/>
          </a:xfrm>
          <a:custGeom>
            <a:avLst/>
            <a:gdLst/>
            <a:ahLst/>
            <a:cxnLst/>
            <a:rect r="r" b="b" t="t" l="l"/>
            <a:pathLst>
              <a:path h="2785026" w="3969884">
                <a:moveTo>
                  <a:pt x="0" y="0"/>
                </a:moveTo>
                <a:lnTo>
                  <a:pt x="3969884" y="0"/>
                </a:lnTo>
                <a:lnTo>
                  <a:pt x="3969884" y="2785026"/>
                </a:lnTo>
                <a:lnTo>
                  <a:pt x="0" y="278502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701883" y="8146704"/>
            <a:ext cx="3969884" cy="2785026"/>
          </a:xfrm>
          <a:custGeom>
            <a:avLst/>
            <a:gdLst/>
            <a:ahLst/>
            <a:cxnLst/>
            <a:rect r="r" b="b" t="t" l="l"/>
            <a:pathLst>
              <a:path h="2785026" w="3969884">
                <a:moveTo>
                  <a:pt x="0" y="0"/>
                </a:moveTo>
                <a:lnTo>
                  <a:pt x="3969884" y="0"/>
                </a:lnTo>
                <a:lnTo>
                  <a:pt x="3969884" y="2785026"/>
                </a:lnTo>
                <a:lnTo>
                  <a:pt x="0" y="278502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7259300" y="-354830"/>
            <a:ext cx="1383530" cy="1383530"/>
            <a:chOff x="0" y="0"/>
            <a:chExt cx="364386" cy="36438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64386" cy="364386"/>
            </a:xfrm>
            <a:custGeom>
              <a:avLst/>
              <a:gdLst/>
              <a:ahLst/>
              <a:cxnLst/>
              <a:rect r="r" b="b" t="t" l="l"/>
              <a:pathLst>
                <a:path h="364386" w="364386">
                  <a:moveTo>
                    <a:pt x="0" y="0"/>
                  </a:moveTo>
                  <a:lnTo>
                    <a:pt x="364386" y="0"/>
                  </a:lnTo>
                  <a:lnTo>
                    <a:pt x="364386" y="364386"/>
                  </a:lnTo>
                  <a:lnTo>
                    <a:pt x="0" y="364386"/>
                  </a:lnTo>
                  <a:close/>
                </a:path>
              </a:pathLst>
            </a:custGeom>
            <a:solidFill>
              <a:srgbClr val="446EB2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364386" cy="4024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-354830" y="9258300"/>
            <a:ext cx="1383530" cy="1383530"/>
            <a:chOff x="0" y="0"/>
            <a:chExt cx="364386" cy="36438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64386" cy="364386"/>
            </a:xfrm>
            <a:custGeom>
              <a:avLst/>
              <a:gdLst/>
              <a:ahLst/>
              <a:cxnLst/>
              <a:rect r="r" b="b" t="t" l="l"/>
              <a:pathLst>
                <a:path h="364386" w="364386">
                  <a:moveTo>
                    <a:pt x="0" y="0"/>
                  </a:moveTo>
                  <a:lnTo>
                    <a:pt x="364386" y="0"/>
                  </a:lnTo>
                  <a:lnTo>
                    <a:pt x="364386" y="364386"/>
                  </a:lnTo>
                  <a:lnTo>
                    <a:pt x="0" y="364386"/>
                  </a:lnTo>
                  <a:close/>
                </a:path>
              </a:pathLst>
            </a:custGeom>
            <a:solidFill>
              <a:srgbClr val="446EB2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364386" cy="4024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7596235" y="7454939"/>
            <a:ext cx="1383530" cy="1383530"/>
            <a:chOff x="0" y="0"/>
            <a:chExt cx="364386" cy="36438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64386" cy="364386"/>
            </a:xfrm>
            <a:custGeom>
              <a:avLst/>
              <a:gdLst/>
              <a:ahLst/>
              <a:cxnLst/>
              <a:rect r="r" b="b" t="t" l="l"/>
              <a:pathLst>
                <a:path h="364386" w="364386">
                  <a:moveTo>
                    <a:pt x="0" y="0"/>
                  </a:moveTo>
                  <a:lnTo>
                    <a:pt x="364386" y="0"/>
                  </a:lnTo>
                  <a:lnTo>
                    <a:pt x="364386" y="364386"/>
                  </a:lnTo>
                  <a:lnTo>
                    <a:pt x="0" y="364386"/>
                  </a:lnTo>
                  <a:close/>
                </a:path>
              </a:pathLst>
            </a:custGeom>
            <a:solidFill>
              <a:srgbClr val="446EB2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364386" cy="4024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-691765" y="1555733"/>
            <a:ext cx="1383530" cy="771490"/>
            <a:chOff x="0" y="0"/>
            <a:chExt cx="364386" cy="20319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364386" cy="203191"/>
            </a:xfrm>
            <a:custGeom>
              <a:avLst/>
              <a:gdLst/>
              <a:ahLst/>
              <a:cxnLst/>
              <a:rect r="r" b="b" t="t" l="l"/>
              <a:pathLst>
                <a:path h="203191" w="364386">
                  <a:moveTo>
                    <a:pt x="0" y="0"/>
                  </a:moveTo>
                  <a:lnTo>
                    <a:pt x="364386" y="0"/>
                  </a:lnTo>
                  <a:lnTo>
                    <a:pt x="364386" y="203191"/>
                  </a:lnTo>
                  <a:lnTo>
                    <a:pt x="0" y="203191"/>
                  </a:lnTo>
                  <a:close/>
                </a:path>
              </a:pathLst>
            </a:custGeom>
            <a:solidFill>
              <a:srgbClr val="446EB2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364386" cy="2412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2872349" y="768066"/>
            <a:ext cx="4289227" cy="7876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60"/>
              </a:lnSpc>
              <a:spcBef>
                <a:spcPct val="0"/>
              </a:spcBef>
            </a:pPr>
            <a:r>
              <a:rPr lang="en-US" b="true" sz="4614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Conc</a:t>
            </a:r>
            <a:r>
              <a:rPr lang="en-US" b="true" sz="4614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epts Used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28700" y="2279598"/>
            <a:ext cx="5791696" cy="3051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Object-Oriented Pr</a:t>
            </a:r>
            <a:r>
              <a:rPr lang="en-US" b="true" sz="249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ogramming (OOP</a:t>
            </a:r>
            <a:r>
              <a:rPr lang="en-US" sz="24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)</a:t>
            </a:r>
          </a:p>
          <a:p>
            <a:pPr algn="l" marL="539746" indent="-269873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Encapsulation</a:t>
            </a:r>
          </a:p>
          <a:p>
            <a:pPr algn="l" marL="539746" indent="-269873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Inheritance</a:t>
            </a:r>
          </a:p>
          <a:p>
            <a:pPr algn="l" marL="539746" indent="-269873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Polymorphism</a:t>
            </a:r>
          </a:p>
          <a:p>
            <a:pPr algn="l" marL="539746" indent="-269873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Abstraction</a:t>
            </a:r>
          </a:p>
          <a:p>
            <a:pPr algn="ctr">
              <a:lnSpc>
                <a:spcPts val="3499"/>
              </a:lnSpc>
              <a:spcBef>
                <a:spcPct val="0"/>
              </a:spcBef>
            </a:pPr>
          </a:p>
          <a:p>
            <a:pPr algn="ctr">
              <a:lnSpc>
                <a:spcPts val="3499"/>
              </a:lnSpc>
              <a:spcBef>
                <a:spcPct val="0"/>
              </a:spcBef>
            </a:pPr>
          </a:p>
        </p:txBody>
      </p:sp>
      <p:sp>
        <p:nvSpPr>
          <p:cNvPr name="TextBox 18" id="18"/>
          <p:cNvSpPr txBox="true"/>
          <p:nvPr/>
        </p:nvSpPr>
        <p:spPr>
          <a:xfrm rot="0">
            <a:off x="1028700" y="4890066"/>
            <a:ext cx="5842199" cy="1298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Java Swing GUI</a:t>
            </a:r>
          </a:p>
          <a:p>
            <a:pPr algn="l" marL="539746" indent="-269873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JFrame, JPanel, JButton, JTable</a:t>
            </a:r>
          </a:p>
          <a:p>
            <a:pPr algn="l" marL="539746" indent="-269873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JTextField, JComboBox, JOptionPane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05207" y="6912542"/>
            <a:ext cx="3578126" cy="173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Event Handling</a:t>
            </a:r>
          </a:p>
          <a:p>
            <a:pPr algn="l" marL="539746" indent="-269873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ActionListener</a:t>
            </a:r>
          </a:p>
          <a:p>
            <a:pPr algn="l" marL="539746" indent="-269873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DocumentListener</a:t>
            </a:r>
          </a:p>
          <a:p>
            <a:pPr algn="l" marL="539746" indent="-269873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ListSelectionListener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159187" y="2279598"/>
            <a:ext cx="4627166" cy="173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b="true" sz="249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Database Connectivity (JDBC)</a:t>
            </a:r>
          </a:p>
          <a:p>
            <a:pPr algn="l" marL="539746" indent="-269873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Connection</a:t>
            </a:r>
          </a:p>
          <a:p>
            <a:pPr algn="l" marL="539746" indent="-269873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PreparedStatement</a:t>
            </a:r>
          </a:p>
          <a:p>
            <a:pPr algn="l" marL="539746" indent="-269873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ResultSet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153074" y="4670991"/>
            <a:ext cx="5548809" cy="173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b="true" sz="249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Room-wise Inventory Management</a:t>
            </a:r>
          </a:p>
          <a:p>
            <a:pPr algn="l" marL="539746" indent="-269873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Add/Delete Rooms</a:t>
            </a:r>
          </a:p>
          <a:p>
            <a:pPr algn="l" marL="539746" indent="-269873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Room-based Item Filtering</a:t>
            </a:r>
          </a:p>
          <a:p>
            <a:pPr algn="l" marL="539746" indent="-269873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All Rooms View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D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7347605" y="-1323494"/>
            <a:ext cx="9219448" cy="6405477"/>
          </a:xfrm>
          <a:prstGeom prst="rect">
            <a:avLst/>
          </a:prstGeom>
        </p:spPr>
      </p:pic>
      <p:sp>
        <p:nvSpPr>
          <p:cNvPr name="Freeform 3" id="3"/>
          <p:cNvSpPr/>
          <p:nvPr/>
        </p:nvSpPr>
        <p:spPr>
          <a:xfrm flipH="true" flipV="true" rot="0">
            <a:off x="15097851" y="8418967"/>
            <a:ext cx="3969884" cy="2785026"/>
          </a:xfrm>
          <a:custGeom>
            <a:avLst/>
            <a:gdLst/>
            <a:ahLst/>
            <a:cxnLst/>
            <a:rect r="r" b="b" t="t" l="l"/>
            <a:pathLst>
              <a:path h="2785026" w="3969884">
                <a:moveTo>
                  <a:pt x="3969884" y="2785026"/>
                </a:moveTo>
                <a:lnTo>
                  <a:pt x="0" y="2785026"/>
                </a:lnTo>
                <a:lnTo>
                  <a:pt x="0" y="0"/>
                </a:lnTo>
                <a:lnTo>
                  <a:pt x="3969884" y="0"/>
                </a:lnTo>
                <a:lnTo>
                  <a:pt x="3969884" y="2785026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7596235" y="7727202"/>
            <a:ext cx="1383530" cy="1383530"/>
            <a:chOff x="0" y="0"/>
            <a:chExt cx="364386" cy="36438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64386" cy="364386"/>
            </a:xfrm>
            <a:custGeom>
              <a:avLst/>
              <a:gdLst/>
              <a:ahLst/>
              <a:cxnLst/>
              <a:rect r="r" b="b" t="t" l="l"/>
              <a:pathLst>
                <a:path h="364386" w="364386">
                  <a:moveTo>
                    <a:pt x="0" y="0"/>
                  </a:moveTo>
                  <a:lnTo>
                    <a:pt x="364386" y="0"/>
                  </a:lnTo>
                  <a:lnTo>
                    <a:pt x="364386" y="364386"/>
                  </a:lnTo>
                  <a:lnTo>
                    <a:pt x="0" y="364386"/>
                  </a:lnTo>
                  <a:close/>
                </a:path>
              </a:pathLst>
            </a:custGeom>
            <a:solidFill>
              <a:srgbClr val="446EB2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364386" cy="4024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-779735" y="-916993"/>
            <a:ext cx="3969884" cy="2785026"/>
          </a:xfrm>
          <a:custGeom>
            <a:avLst/>
            <a:gdLst/>
            <a:ahLst/>
            <a:cxnLst/>
            <a:rect r="r" b="b" t="t" l="l"/>
            <a:pathLst>
              <a:path h="2785026" w="3969884">
                <a:moveTo>
                  <a:pt x="0" y="0"/>
                </a:moveTo>
                <a:lnTo>
                  <a:pt x="3969884" y="0"/>
                </a:lnTo>
                <a:lnTo>
                  <a:pt x="3969884" y="2785026"/>
                </a:lnTo>
                <a:lnTo>
                  <a:pt x="0" y="278502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-691765" y="1176268"/>
            <a:ext cx="1383530" cy="1383530"/>
            <a:chOff x="0" y="0"/>
            <a:chExt cx="364386" cy="36438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64386" cy="364386"/>
            </a:xfrm>
            <a:custGeom>
              <a:avLst/>
              <a:gdLst/>
              <a:ahLst/>
              <a:cxnLst/>
              <a:rect r="r" b="b" t="t" l="l"/>
              <a:pathLst>
                <a:path h="364386" w="364386">
                  <a:moveTo>
                    <a:pt x="0" y="0"/>
                  </a:moveTo>
                  <a:lnTo>
                    <a:pt x="364386" y="0"/>
                  </a:lnTo>
                  <a:lnTo>
                    <a:pt x="364386" y="364386"/>
                  </a:lnTo>
                  <a:lnTo>
                    <a:pt x="0" y="364386"/>
                  </a:lnTo>
                  <a:close/>
                </a:path>
              </a:pathLst>
            </a:custGeom>
            <a:solidFill>
              <a:srgbClr val="446EB2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364386" cy="4024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-1984942" y="8057181"/>
            <a:ext cx="3969884" cy="2785026"/>
          </a:xfrm>
          <a:custGeom>
            <a:avLst/>
            <a:gdLst/>
            <a:ahLst/>
            <a:cxnLst/>
            <a:rect r="r" b="b" t="t" l="l"/>
            <a:pathLst>
              <a:path h="2785026" w="3969884">
                <a:moveTo>
                  <a:pt x="0" y="0"/>
                </a:moveTo>
                <a:lnTo>
                  <a:pt x="3969884" y="0"/>
                </a:lnTo>
                <a:lnTo>
                  <a:pt x="3969884" y="2785026"/>
                </a:lnTo>
                <a:lnTo>
                  <a:pt x="0" y="278502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true" flipV="true" rot="0">
            <a:off x="16303058" y="-555207"/>
            <a:ext cx="3969884" cy="2785026"/>
          </a:xfrm>
          <a:custGeom>
            <a:avLst/>
            <a:gdLst/>
            <a:ahLst/>
            <a:cxnLst/>
            <a:rect r="r" b="b" t="t" l="l"/>
            <a:pathLst>
              <a:path h="2785026" w="3969884">
                <a:moveTo>
                  <a:pt x="3969884" y="2785026"/>
                </a:moveTo>
                <a:lnTo>
                  <a:pt x="0" y="2785026"/>
                </a:lnTo>
                <a:lnTo>
                  <a:pt x="0" y="0"/>
                </a:lnTo>
                <a:lnTo>
                  <a:pt x="3969884" y="0"/>
                </a:lnTo>
                <a:lnTo>
                  <a:pt x="3969884" y="2785026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2361517" y="1879243"/>
            <a:ext cx="5648592" cy="5314288"/>
          </a:xfrm>
          <a:custGeom>
            <a:avLst/>
            <a:gdLst/>
            <a:ahLst/>
            <a:cxnLst/>
            <a:rect r="r" b="b" t="t" l="l"/>
            <a:pathLst>
              <a:path h="5314288" w="5648592">
                <a:moveTo>
                  <a:pt x="0" y="0"/>
                </a:moveTo>
                <a:lnTo>
                  <a:pt x="5648592" y="0"/>
                </a:lnTo>
                <a:lnTo>
                  <a:pt x="5648592" y="5314288"/>
                </a:lnTo>
                <a:lnTo>
                  <a:pt x="0" y="531428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9547840" y="3756089"/>
            <a:ext cx="5550010" cy="5865349"/>
          </a:xfrm>
          <a:custGeom>
            <a:avLst/>
            <a:gdLst/>
            <a:ahLst/>
            <a:cxnLst/>
            <a:rect r="r" b="b" t="t" l="l"/>
            <a:pathLst>
              <a:path h="5865349" w="5550010">
                <a:moveTo>
                  <a:pt x="0" y="0"/>
                </a:moveTo>
                <a:lnTo>
                  <a:pt x="5550011" y="0"/>
                </a:lnTo>
                <a:lnTo>
                  <a:pt x="5550011" y="5865348"/>
                </a:lnTo>
                <a:lnTo>
                  <a:pt x="0" y="586534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237" r="-2247" b="-6089"/>
            </a:stretch>
          </a:blipFill>
        </p:spPr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-1968136">
            <a:off x="4392209" y="8525733"/>
            <a:ext cx="2792921" cy="1149060"/>
          </a:xfrm>
          <a:prstGeom prst="rect">
            <a:avLst/>
          </a:prstGeom>
        </p:spPr>
      </p:pic>
      <p:sp>
        <p:nvSpPr>
          <p:cNvPr name="Freeform 16" id="16"/>
          <p:cNvSpPr/>
          <p:nvPr/>
        </p:nvSpPr>
        <p:spPr>
          <a:xfrm flipH="false" flipV="false" rot="0">
            <a:off x="1565791" y="7685753"/>
            <a:ext cx="3620022" cy="1629010"/>
          </a:xfrm>
          <a:custGeom>
            <a:avLst/>
            <a:gdLst/>
            <a:ahLst/>
            <a:cxnLst/>
            <a:rect r="r" b="b" t="t" l="l"/>
            <a:pathLst>
              <a:path h="1629010" w="3620022">
                <a:moveTo>
                  <a:pt x="0" y="0"/>
                </a:moveTo>
                <a:lnTo>
                  <a:pt x="3620022" y="0"/>
                </a:lnTo>
                <a:lnTo>
                  <a:pt x="3620022" y="1629010"/>
                </a:lnTo>
                <a:lnTo>
                  <a:pt x="0" y="162901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4625352" y="462102"/>
            <a:ext cx="8290800" cy="8050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29"/>
              </a:lnSpc>
            </a:pPr>
            <a:r>
              <a:rPr lang="en-US" b="true" sz="4307">
                <a:solidFill>
                  <a:srgbClr val="182F5B"/>
                </a:solidFill>
                <a:latin typeface="Codec Pro Ultra-Bold"/>
                <a:ea typeface="Codec Pro Ultra-Bold"/>
                <a:cs typeface="Codec Pro Ultra-Bold"/>
                <a:sym typeface="Codec Pro Ultra-Bold"/>
              </a:rPr>
              <a:t>U</a:t>
            </a:r>
            <a:r>
              <a:rPr lang="en-US" b="true" sz="4307">
                <a:solidFill>
                  <a:srgbClr val="182F5B"/>
                </a:solidFill>
                <a:latin typeface="Codec Pro Ultra-Bold"/>
                <a:ea typeface="Codec Pro Ultra-Bold"/>
                <a:cs typeface="Codec Pro Ultra-Bold"/>
                <a:sym typeface="Codec Pro Ultra-Bold"/>
              </a:rPr>
              <a:t>SER AUTHENTICATION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805368" y="8176725"/>
            <a:ext cx="3140869" cy="5803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b="true" sz="3399">
                <a:solidFill>
                  <a:srgbClr val="182F5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login Interface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12890120" y="1879243"/>
            <a:ext cx="3058088" cy="1376140"/>
          </a:xfrm>
          <a:custGeom>
            <a:avLst/>
            <a:gdLst/>
            <a:ahLst/>
            <a:cxnLst/>
            <a:rect r="r" b="b" t="t" l="l"/>
            <a:pathLst>
              <a:path h="1376140" w="3058088">
                <a:moveTo>
                  <a:pt x="0" y="0"/>
                </a:moveTo>
                <a:lnTo>
                  <a:pt x="3058088" y="0"/>
                </a:lnTo>
                <a:lnTo>
                  <a:pt x="3058088" y="1376140"/>
                </a:lnTo>
                <a:lnTo>
                  <a:pt x="0" y="137614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12612136" y="1949612"/>
            <a:ext cx="3336072" cy="1180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b="true">
                <a:solidFill>
                  <a:srgbClr val="182F5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Resgister</a:t>
            </a:r>
          </a:p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b="true" sz="3399">
                <a:solidFill>
                  <a:srgbClr val="182F5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page</a:t>
            </a:r>
          </a:p>
        </p:txBody>
      </p:sp>
      <p:pic>
        <p:nvPicPr>
          <p:cNvPr name="Picture 21" id="21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8239760">
            <a:off x="10755762" y="1683019"/>
            <a:ext cx="2658115" cy="109359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D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15097851" y="8418967"/>
            <a:ext cx="3969884" cy="2785026"/>
          </a:xfrm>
          <a:custGeom>
            <a:avLst/>
            <a:gdLst/>
            <a:ahLst/>
            <a:cxnLst/>
            <a:rect r="r" b="b" t="t" l="l"/>
            <a:pathLst>
              <a:path h="2785026" w="3969884">
                <a:moveTo>
                  <a:pt x="3969884" y="2785026"/>
                </a:moveTo>
                <a:lnTo>
                  <a:pt x="0" y="2785026"/>
                </a:lnTo>
                <a:lnTo>
                  <a:pt x="0" y="0"/>
                </a:lnTo>
                <a:lnTo>
                  <a:pt x="3969884" y="0"/>
                </a:lnTo>
                <a:lnTo>
                  <a:pt x="3969884" y="278502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7596235" y="7727202"/>
            <a:ext cx="1383530" cy="1383530"/>
            <a:chOff x="0" y="0"/>
            <a:chExt cx="364386" cy="36438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64386" cy="364386"/>
            </a:xfrm>
            <a:custGeom>
              <a:avLst/>
              <a:gdLst/>
              <a:ahLst/>
              <a:cxnLst/>
              <a:rect r="r" b="b" t="t" l="l"/>
              <a:pathLst>
                <a:path h="364386" w="364386">
                  <a:moveTo>
                    <a:pt x="0" y="0"/>
                  </a:moveTo>
                  <a:lnTo>
                    <a:pt x="364386" y="0"/>
                  </a:lnTo>
                  <a:lnTo>
                    <a:pt x="364386" y="364386"/>
                  </a:lnTo>
                  <a:lnTo>
                    <a:pt x="0" y="364386"/>
                  </a:lnTo>
                  <a:close/>
                </a:path>
              </a:pathLst>
            </a:custGeom>
            <a:solidFill>
              <a:srgbClr val="446EB2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364386" cy="4024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-779735" y="-916993"/>
            <a:ext cx="3969884" cy="2785026"/>
          </a:xfrm>
          <a:custGeom>
            <a:avLst/>
            <a:gdLst/>
            <a:ahLst/>
            <a:cxnLst/>
            <a:rect r="r" b="b" t="t" l="l"/>
            <a:pathLst>
              <a:path h="2785026" w="3969884">
                <a:moveTo>
                  <a:pt x="0" y="0"/>
                </a:moveTo>
                <a:lnTo>
                  <a:pt x="3969884" y="0"/>
                </a:lnTo>
                <a:lnTo>
                  <a:pt x="3969884" y="2785026"/>
                </a:lnTo>
                <a:lnTo>
                  <a:pt x="0" y="278502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-691765" y="1176268"/>
            <a:ext cx="1383530" cy="1383530"/>
            <a:chOff x="0" y="0"/>
            <a:chExt cx="364386" cy="36438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64386" cy="364386"/>
            </a:xfrm>
            <a:custGeom>
              <a:avLst/>
              <a:gdLst/>
              <a:ahLst/>
              <a:cxnLst/>
              <a:rect r="r" b="b" t="t" l="l"/>
              <a:pathLst>
                <a:path h="364386" w="364386">
                  <a:moveTo>
                    <a:pt x="0" y="0"/>
                  </a:moveTo>
                  <a:lnTo>
                    <a:pt x="364386" y="0"/>
                  </a:lnTo>
                  <a:lnTo>
                    <a:pt x="364386" y="364386"/>
                  </a:lnTo>
                  <a:lnTo>
                    <a:pt x="0" y="364386"/>
                  </a:lnTo>
                  <a:close/>
                </a:path>
              </a:pathLst>
            </a:custGeom>
            <a:solidFill>
              <a:srgbClr val="446EB2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364386" cy="4024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7259300" y="-354830"/>
            <a:ext cx="1383530" cy="1383530"/>
            <a:chOff x="0" y="0"/>
            <a:chExt cx="364386" cy="36438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64386" cy="364386"/>
            </a:xfrm>
            <a:custGeom>
              <a:avLst/>
              <a:gdLst/>
              <a:ahLst/>
              <a:cxnLst/>
              <a:rect r="r" b="b" t="t" l="l"/>
              <a:pathLst>
                <a:path h="364386" w="364386">
                  <a:moveTo>
                    <a:pt x="0" y="0"/>
                  </a:moveTo>
                  <a:lnTo>
                    <a:pt x="364386" y="0"/>
                  </a:lnTo>
                  <a:lnTo>
                    <a:pt x="364386" y="364386"/>
                  </a:lnTo>
                  <a:lnTo>
                    <a:pt x="0" y="364386"/>
                  </a:lnTo>
                  <a:close/>
                </a:path>
              </a:pathLst>
            </a:custGeom>
            <a:solidFill>
              <a:srgbClr val="446EB2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364386" cy="4024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-354830" y="9258300"/>
            <a:ext cx="1383530" cy="1383530"/>
            <a:chOff x="0" y="0"/>
            <a:chExt cx="364386" cy="36438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364386" cy="364386"/>
            </a:xfrm>
            <a:custGeom>
              <a:avLst/>
              <a:gdLst/>
              <a:ahLst/>
              <a:cxnLst/>
              <a:rect r="r" b="b" t="t" l="l"/>
              <a:pathLst>
                <a:path h="364386" w="364386">
                  <a:moveTo>
                    <a:pt x="0" y="0"/>
                  </a:moveTo>
                  <a:lnTo>
                    <a:pt x="364386" y="0"/>
                  </a:lnTo>
                  <a:lnTo>
                    <a:pt x="364386" y="364386"/>
                  </a:lnTo>
                  <a:lnTo>
                    <a:pt x="0" y="364386"/>
                  </a:lnTo>
                  <a:close/>
                </a:path>
              </a:pathLst>
            </a:custGeom>
            <a:solidFill>
              <a:srgbClr val="446EB2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364386" cy="4024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0" y="3705200"/>
            <a:ext cx="8193326" cy="5026033"/>
          </a:xfrm>
          <a:custGeom>
            <a:avLst/>
            <a:gdLst/>
            <a:ahLst/>
            <a:cxnLst/>
            <a:rect r="r" b="b" t="t" l="l"/>
            <a:pathLst>
              <a:path h="5026033" w="8193326">
                <a:moveTo>
                  <a:pt x="0" y="0"/>
                </a:moveTo>
                <a:lnTo>
                  <a:pt x="8193326" y="0"/>
                </a:lnTo>
                <a:lnTo>
                  <a:pt x="8193326" y="5026033"/>
                </a:lnTo>
                <a:lnTo>
                  <a:pt x="0" y="502603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1384001" y="3724203"/>
            <a:ext cx="4997238" cy="2819942"/>
          </a:xfrm>
          <a:custGeom>
            <a:avLst/>
            <a:gdLst/>
            <a:ahLst/>
            <a:cxnLst/>
            <a:rect r="r" b="b" t="t" l="l"/>
            <a:pathLst>
              <a:path h="2819942" w="4997238">
                <a:moveTo>
                  <a:pt x="0" y="0"/>
                </a:moveTo>
                <a:lnTo>
                  <a:pt x="4997238" y="0"/>
                </a:lnTo>
                <a:lnTo>
                  <a:pt x="4997238" y="2819942"/>
                </a:lnTo>
                <a:lnTo>
                  <a:pt x="0" y="281994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01468" t="-115080" r="-104512" b="-11508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5416761" y="1868033"/>
            <a:ext cx="1569984" cy="1569984"/>
          </a:xfrm>
          <a:custGeom>
            <a:avLst/>
            <a:gdLst/>
            <a:ahLst/>
            <a:cxnLst/>
            <a:rect r="r" b="b" t="t" l="l"/>
            <a:pathLst>
              <a:path h="1569984" w="1569984">
                <a:moveTo>
                  <a:pt x="0" y="0"/>
                </a:moveTo>
                <a:lnTo>
                  <a:pt x="1569983" y="0"/>
                </a:lnTo>
                <a:lnTo>
                  <a:pt x="1569983" y="1569984"/>
                </a:lnTo>
                <a:lnTo>
                  <a:pt x="0" y="156998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19" id="19"/>
          <p:cNvSpPr/>
          <p:nvPr/>
        </p:nvSpPr>
        <p:spPr>
          <a:xfrm flipV="true">
            <a:off x="6991675" y="5552238"/>
            <a:ext cx="5259855" cy="1675973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20" id="20"/>
          <p:cNvSpPr/>
          <p:nvPr/>
        </p:nvSpPr>
        <p:spPr>
          <a:xfrm flipH="true" flipV="true">
            <a:off x="13042744" y="2149014"/>
            <a:ext cx="822086" cy="1631397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Freeform 21" id="21"/>
          <p:cNvSpPr/>
          <p:nvPr/>
        </p:nvSpPr>
        <p:spPr>
          <a:xfrm flipH="false" flipV="false" rot="0">
            <a:off x="11119224" y="1617945"/>
            <a:ext cx="2923961" cy="643271"/>
          </a:xfrm>
          <a:custGeom>
            <a:avLst/>
            <a:gdLst/>
            <a:ahLst/>
            <a:cxnLst/>
            <a:rect r="r" b="b" t="t" l="l"/>
            <a:pathLst>
              <a:path h="643271" w="2923961">
                <a:moveTo>
                  <a:pt x="0" y="0"/>
                </a:moveTo>
                <a:lnTo>
                  <a:pt x="2923960" y="0"/>
                </a:lnTo>
                <a:lnTo>
                  <a:pt x="2923960" y="643272"/>
                </a:lnTo>
                <a:lnTo>
                  <a:pt x="0" y="64327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1205207" y="2118342"/>
            <a:ext cx="4816971" cy="7400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83"/>
              </a:lnSpc>
            </a:pPr>
            <a:r>
              <a:rPr lang="en-US" b="true" sz="3916">
                <a:solidFill>
                  <a:srgbClr val="182F5B"/>
                </a:solidFill>
                <a:latin typeface="Codec Pro Ultra-Bold"/>
                <a:ea typeface="Codec Pro Ultra-Bold"/>
                <a:cs typeface="Codec Pro Ultra-Bold"/>
                <a:sym typeface="Codec Pro Ultra-Bold"/>
              </a:rPr>
              <a:t>HOME DASHBOARD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1297579" y="1677851"/>
            <a:ext cx="2567251" cy="4223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6"/>
              </a:lnSpc>
              <a:spcBef>
                <a:spcPct val="0"/>
              </a:spcBef>
            </a:pPr>
            <a:r>
              <a:rPr lang="en-US" b="true" sz="2497">
                <a:solidFill>
                  <a:srgbClr val="182F5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Add new home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D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2605935"/>
            <a:ext cx="798964" cy="740858"/>
          </a:xfrm>
          <a:custGeom>
            <a:avLst/>
            <a:gdLst/>
            <a:ahLst/>
            <a:cxnLst/>
            <a:rect r="r" b="b" t="t" l="l"/>
            <a:pathLst>
              <a:path h="740858" w="798964">
                <a:moveTo>
                  <a:pt x="0" y="0"/>
                </a:moveTo>
                <a:lnTo>
                  <a:pt x="798964" y="0"/>
                </a:lnTo>
                <a:lnTo>
                  <a:pt x="798964" y="740857"/>
                </a:lnTo>
                <a:lnTo>
                  <a:pt x="0" y="74085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5097851" y="8418967"/>
            <a:ext cx="3969884" cy="2785026"/>
          </a:xfrm>
          <a:custGeom>
            <a:avLst/>
            <a:gdLst/>
            <a:ahLst/>
            <a:cxnLst/>
            <a:rect r="r" b="b" t="t" l="l"/>
            <a:pathLst>
              <a:path h="2785026" w="3969884">
                <a:moveTo>
                  <a:pt x="3969884" y="2785026"/>
                </a:moveTo>
                <a:lnTo>
                  <a:pt x="0" y="2785026"/>
                </a:lnTo>
                <a:lnTo>
                  <a:pt x="0" y="0"/>
                </a:lnTo>
                <a:lnTo>
                  <a:pt x="3969884" y="0"/>
                </a:lnTo>
                <a:lnTo>
                  <a:pt x="3969884" y="2785026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7596235" y="7727202"/>
            <a:ext cx="1383530" cy="1383530"/>
            <a:chOff x="0" y="0"/>
            <a:chExt cx="364386" cy="36438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64386" cy="364386"/>
            </a:xfrm>
            <a:custGeom>
              <a:avLst/>
              <a:gdLst/>
              <a:ahLst/>
              <a:cxnLst/>
              <a:rect r="r" b="b" t="t" l="l"/>
              <a:pathLst>
                <a:path h="364386" w="364386">
                  <a:moveTo>
                    <a:pt x="0" y="0"/>
                  </a:moveTo>
                  <a:lnTo>
                    <a:pt x="364386" y="0"/>
                  </a:lnTo>
                  <a:lnTo>
                    <a:pt x="364386" y="364386"/>
                  </a:lnTo>
                  <a:lnTo>
                    <a:pt x="0" y="364386"/>
                  </a:lnTo>
                  <a:close/>
                </a:path>
              </a:pathLst>
            </a:custGeom>
            <a:solidFill>
              <a:srgbClr val="446EB2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364386" cy="4024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-779735" y="-916993"/>
            <a:ext cx="3969884" cy="2785026"/>
          </a:xfrm>
          <a:custGeom>
            <a:avLst/>
            <a:gdLst/>
            <a:ahLst/>
            <a:cxnLst/>
            <a:rect r="r" b="b" t="t" l="l"/>
            <a:pathLst>
              <a:path h="2785026" w="3969884">
                <a:moveTo>
                  <a:pt x="0" y="0"/>
                </a:moveTo>
                <a:lnTo>
                  <a:pt x="3969884" y="0"/>
                </a:lnTo>
                <a:lnTo>
                  <a:pt x="3969884" y="2785026"/>
                </a:lnTo>
                <a:lnTo>
                  <a:pt x="0" y="278502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-691765" y="1176268"/>
            <a:ext cx="1383530" cy="1383530"/>
            <a:chOff x="0" y="0"/>
            <a:chExt cx="364386" cy="36438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64386" cy="364386"/>
            </a:xfrm>
            <a:custGeom>
              <a:avLst/>
              <a:gdLst/>
              <a:ahLst/>
              <a:cxnLst/>
              <a:rect r="r" b="b" t="t" l="l"/>
              <a:pathLst>
                <a:path h="364386" w="364386">
                  <a:moveTo>
                    <a:pt x="0" y="0"/>
                  </a:moveTo>
                  <a:lnTo>
                    <a:pt x="364386" y="0"/>
                  </a:lnTo>
                  <a:lnTo>
                    <a:pt x="364386" y="364386"/>
                  </a:lnTo>
                  <a:lnTo>
                    <a:pt x="0" y="364386"/>
                  </a:lnTo>
                  <a:close/>
                </a:path>
              </a:pathLst>
            </a:custGeom>
            <a:solidFill>
              <a:srgbClr val="446EB2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364386" cy="4024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-1984942" y="8057181"/>
            <a:ext cx="3969884" cy="2785026"/>
          </a:xfrm>
          <a:custGeom>
            <a:avLst/>
            <a:gdLst/>
            <a:ahLst/>
            <a:cxnLst/>
            <a:rect r="r" b="b" t="t" l="l"/>
            <a:pathLst>
              <a:path h="2785026" w="3969884">
                <a:moveTo>
                  <a:pt x="0" y="0"/>
                </a:moveTo>
                <a:lnTo>
                  <a:pt x="3969884" y="0"/>
                </a:lnTo>
                <a:lnTo>
                  <a:pt x="3969884" y="2785026"/>
                </a:lnTo>
                <a:lnTo>
                  <a:pt x="0" y="278502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true" flipV="true" rot="0">
            <a:off x="16303058" y="-555207"/>
            <a:ext cx="3969884" cy="2785026"/>
          </a:xfrm>
          <a:custGeom>
            <a:avLst/>
            <a:gdLst/>
            <a:ahLst/>
            <a:cxnLst/>
            <a:rect r="r" b="b" t="t" l="l"/>
            <a:pathLst>
              <a:path h="2785026" w="3969884">
                <a:moveTo>
                  <a:pt x="3969884" y="2785026"/>
                </a:moveTo>
                <a:lnTo>
                  <a:pt x="0" y="2785026"/>
                </a:lnTo>
                <a:lnTo>
                  <a:pt x="0" y="0"/>
                </a:lnTo>
                <a:lnTo>
                  <a:pt x="3969884" y="0"/>
                </a:lnTo>
                <a:lnTo>
                  <a:pt x="3969884" y="2785026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13" id="13"/>
          <p:cNvSpPr/>
          <p:nvPr/>
        </p:nvSpPr>
        <p:spPr>
          <a:xfrm flipH="true" flipV="true">
            <a:off x="3443282" y="3364265"/>
            <a:ext cx="1407162" cy="334457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14" id="14"/>
          <p:cNvSpPr/>
          <p:nvPr/>
        </p:nvSpPr>
        <p:spPr>
          <a:xfrm flipH="true">
            <a:off x="3005299" y="3989600"/>
            <a:ext cx="1845145" cy="1905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15" id="15"/>
          <p:cNvSpPr/>
          <p:nvPr/>
        </p:nvSpPr>
        <p:spPr>
          <a:xfrm flipH="true">
            <a:off x="2766182" y="4427378"/>
            <a:ext cx="1890636" cy="151876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16" id="16"/>
          <p:cNvSpPr/>
          <p:nvPr/>
        </p:nvSpPr>
        <p:spPr>
          <a:xfrm flipH="true">
            <a:off x="2767708" y="4972636"/>
            <a:ext cx="1890636" cy="151876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17" id="17"/>
          <p:cNvSpPr/>
          <p:nvPr/>
        </p:nvSpPr>
        <p:spPr>
          <a:xfrm flipH="true">
            <a:off x="2769233" y="5409565"/>
            <a:ext cx="1890636" cy="151876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18" id="18"/>
          <p:cNvSpPr/>
          <p:nvPr/>
        </p:nvSpPr>
        <p:spPr>
          <a:xfrm flipH="true" flipV="true">
            <a:off x="3191031" y="6084374"/>
            <a:ext cx="1657621" cy="76774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19" id="19"/>
          <p:cNvSpPr/>
          <p:nvPr/>
        </p:nvSpPr>
        <p:spPr>
          <a:xfrm flipH="true">
            <a:off x="2764657" y="6969503"/>
            <a:ext cx="1890636" cy="151876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20" id="20"/>
          <p:cNvSpPr/>
          <p:nvPr/>
        </p:nvSpPr>
        <p:spPr>
          <a:xfrm flipH="true">
            <a:off x="3005299" y="6541492"/>
            <a:ext cx="1842472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Freeform 21" id="21"/>
          <p:cNvSpPr/>
          <p:nvPr/>
        </p:nvSpPr>
        <p:spPr>
          <a:xfrm flipH="false" flipV="false" rot="0">
            <a:off x="4844906" y="1481667"/>
            <a:ext cx="13084230" cy="7359879"/>
          </a:xfrm>
          <a:custGeom>
            <a:avLst/>
            <a:gdLst/>
            <a:ahLst/>
            <a:cxnLst/>
            <a:rect r="r" b="b" t="t" l="l"/>
            <a:pathLst>
              <a:path h="7359879" w="13084230">
                <a:moveTo>
                  <a:pt x="0" y="0"/>
                </a:moveTo>
                <a:lnTo>
                  <a:pt x="13084230" y="0"/>
                </a:lnTo>
                <a:lnTo>
                  <a:pt x="13084230" y="7359879"/>
                </a:lnTo>
                <a:lnTo>
                  <a:pt x="0" y="735987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2102043" y="3109302"/>
            <a:ext cx="1322189" cy="389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9"/>
              </a:lnSpc>
              <a:spcBef>
                <a:spcPct val="0"/>
              </a:spcBef>
            </a:pPr>
            <a:r>
              <a:rPr lang="en-US" b="true" sz="229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Add item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698885" y="3771160"/>
            <a:ext cx="1306413" cy="389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9"/>
              </a:lnSpc>
              <a:spcBef>
                <a:spcPct val="0"/>
              </a:spcBef>
            </a:pPr>
            <a:r>
              <a:rPr lang="en-US" b="true" sz="229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Category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111612" y="4360813"/>
            <a:ext cx="1893687" cy="389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9"/>
              </a:lnSpc>
              <a:spcBef>
                <a:spcPct val="0"/>
              </a:spcBef>
            </a:pPr>
            <a:r>
              <a:rPr lang="en-US" b="true" sz="229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Location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038099" y="4896546"/>
            <a:ext cx="1893687" cy="389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9"/>
              </a:lnSpc>
              <a:spcBef>
                <a:spcPct val="0"/>
              </a:spcBef>
            </a:pPr>
            <a:r>
              <a:rPr lang="en-US" b="true" sz="229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Quantity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296463" y="5333476"/>
            <a:ext cx="1893687" cy="389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9"/>
              </a:lnSpc>
              <a:spcBef>
                <a:spcPct val="0"/>
              </a:spcBef>
            </a:pPr>
            <a:r>
              <a:rPr lang="en-US" b="true" sz="229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Price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301920" y="5865934"/>
            <a:ext cx="1889111" cy="389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9"/>
              </a:lnSpc>
              <a:spcBef>
                <a:spcPct val="0"/>
              </a:spcBef>
            </a:pPr>
            <a:r>
              <a:rPr lang="en-US" b="true" sz="229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Add item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875546" y="6893413"/>
            <a:ext cx="1893687" cy="389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9"/>
              </a:lnSpc>
              <a:spcBef>
                <a:spcPct val="0"/>
              </a:spcBef>
            </a:pPr>
            <a:r>
              <a:rPr lang="en-US" b="true" sz="229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View Details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8914456" y="427895"/>
            <a:ext cx="1614190" cy="389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9"/>
              </a:lnSpc>
              <a:spcBef>
                <a:spcPct val="0"/>
              </a:spcBef>
            </a:pPr>
            <a:r>
              <a:rPr lang="en-US" b="true" sz="229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Total value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4387321" y="257080"/>
            <a:ext cx="1638499" cy="389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9"/>
              </a:lnSpc>
              <a:spcBef>
                <a:spcPct val="0"/>
              </a:spcBef>
            </a:pPr>
            <a:r>
              <a:rPr lang="en-US" b="true" sz="229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Total items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1680183" y="655955"/>
            <a:ext cx="2455458" cy="372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b="true" sz="219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Low stock alert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6931249" y="420910"/>
            <a:ext cx="1077777" cy="389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0"/>
              </a:lnSpc>
              <a:spcBef>
                <a:spcPct val="0"/>
              </a:spcBef>
            </a:pPr>
            <a:r>
              <a:rPr lang="en-US" b="true" sz="230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Search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038099" y="6312339"/>
            <a:ext cx="1842472" cy="389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9"/>
              </a:lnSpc>
              <a:spcBef>
                <a:spcPct val="0"/>
              </a:spcBef>
            </a:pPr>
            <a:r>
              <a:rPr lang="en-US" b="true" sz="229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Update item</a:t>
            </a:r>
          </a:p>
        </p:txBody>
      </p:sp>
      <p:sp>
        <p:nvSpPr>
          <p:cNvPr name="AutoShape 34" id="34"/>
          <p:cNvSpPr/>
          <p:nvPr/>
        </p:nvSpPr>
        <p:spPr>
          <a:xfrm flipH="true" flipV="true">
            <a:off x="5397772" y="943072"/>
            <a:ext cx="901199" cy="1329707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35" id="35"/>
          <p:cNvSpPr/>
          <p:nvPr/>
        </p:nvSpPr>
        <p:spPr>
          <a:xfrm flipH="true" flipV="true">
            <a:off x="7470138" y="810165"/>
            <a:ext cx="378635" cy="2398263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36" id="36"/>
          <p:cNvSpPr/>
          <p:nvPr/>
        </p:nvSpPr>
        <p:spPr>
          <a:xfrm flipH="true" flipV="true">
            <a:off x="10077157" y="926508"/>
            <a:ext cx="451490" cy="1346271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37" id="37"/>
          <p:cNvSpPr/>
          <p:nvPr/>
        </p:nvSpPr>
        <p:spPr>
          <a:xfrm flipH="true" flipV="true">
            <a:off x="12959902" y="1176268"/>
            <a:ext cx="892158" cy="120476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38" id="38"/>
          <p:cNvSpPr/>
          <p:nvPr/>
        </p:nvSpPr>
        <p:spPr>
          <a:xfrm>
            <a:off x="6298971" y="4579253"/>
            <a:ext cx="4229675" cy="582353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TextBox 39" id="39"/>
          <p:cNvSpPr txBox="true"/>
          <p:nvPr/>
        </p:nvSpPr>
        <p:spPr>
          <a:xfrm rot="469018">
            <a:off x="7690816" y="4864653"/>
            <a:ext cx="1843588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b="true" sz="189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Add new room</a:t>
            </a:r>
          </a:p>
        </p:txBody>
      </p:sp>
      <p:sp>
        <p:nvSpPr>
          <p:cNvPr name="AutoShape 40" id="40"/>
          <p:cNvSpPr/>
          <p:nvPr/>
        </p:nvSpPr>
        <p:spPr>
          <a:xfrm flipH="true" flipV="true">
            <a:off x="15732745" y="1176268"/>
            <a:ext cx="901199" cy="810462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TextBox 41" id="41"/>
          <p:cNvSpPr txBox="true"/>
          <p:nvPr/>
        </p:nvSpPr>
        <p:spPr>
          <a:xfrm rot="0">
            <a:off x="14345959" y="779050"/>
            <a:ext cx="2287984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b="true" sz="189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Back to home page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D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15097851" y="8418967"/>
            <a:ext cx="3969884" cy="2785026"/>
          </a:xfrm>
          <a:custGeom>
            <a:avLst/>
            <a:gdLst/>
            <a:ahLst/>
            <a:cxnLst/>
            <a:rect r="r" b="b" t="t" l="l"/>
            <a:pathLst>
              <a:path h="2785026" w="3969884">
                <a:moveTo>
                  <a:pt x="3969884" y="2785026"/>
                </a:moveTo>
                <a:lnTo>
                  <a:pt x="0" y="2785026"/>
                </a:lnTo>
                <a:lnTo>
                  <a:pt x="0" y="0"/>
                </a:lnTo>
                <a:lnTo>
                  <a:pt x="3969884" y="0"/>
                </a:lnTo>
                <a:lnTo>
                  <a:pt x="3969884" y="278502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7596235" y="7727202"/>
            <a:ext cx="1383530" cy="1383530"/>
            <a:chOff x="0" y="0"/>
            <a:chExt cx="364386" cy="36438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64386" cy="364386"/>
            </a:xfrm>
            <a:custGeom>
              <a:avLst/>
              <a:gdLst/>
              <a:ahLst/>
              <a:cxnLst/>
              <a:rect r="r" b="b" t="t" l="l"/>
              <a:pathLst>
                <a:path h="364386" w="364386">
                  <a:moveTo>
                    <a:pt x="0" y="0"/>
                  </a:moveTo>
                  <a:lnTo>
                    <a:pt x="364386" y="0"/>
                  </a:lnTo>
                  <a:lnTo>
                    <a:pt x="364386" y="364386"/>
                  </a:lnTo>
                  <a:lnTo>
                    <a:pt x="0" y="364386"/>
                  </a:lnTo>
                  <a:close/>
                </a:path>
              </a:pathLst>
            </a:custGeom>
            <a:solidFill>
              <a:srgbClr val="446EB2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364386" cy="4024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-779735" y="-916993"/>
            <a:ext cx="3969884" cy="2785026"/>
          </a:xfrm>
          <a:custGeom>
            <a:avLst/>
            <a:gdLst/>
            <a:ahLst/>
            <a:cxnLst/>
            <a:rect r="r" b="b" t="t" l="l"/>
            <a:pathLst>
              <a:path h="2785026" w="3969884">
                <a:moveTo>
                  <a:pt x="0" y="0"/>
                </a:moveTo>
                <a:lnTo>
                  <a:pt x="3969884" y="0"/>
                </a:lnTo>
                <a:lnTo>
                  <a:pt x="3969884" y="2785026"/>
                </a:lnTo>
                <a:lnTo>
                  <a:pt x="0" y="278502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-691765" y="1176268"/>
            <a:ext cx="1383530" cy="1383530"/>
            <a:chOff x="0" y="0"/>
            <a:chExt cx="364386" cy="36438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64386" cy="364386"/>
            </a:xfrm>
            <a:custGeom>
              <a:avLst/>
              <a:gdLst/>
              <a:ahLst/>
              <a:cxnLst/>
              <a:rect r="r" b="b" t="t" l="l"/>
              <a:pathLst>
                <a:path h="364386" w="364386">
                  <a:moveTo>
                    <a:pt x="0" y="0"/>
                  </a:moveTo>
                  <a:lnTo>
                    <a:pt x="364386" y="0"/>
                  </a:lnTo>
                  <a:lnTo>
                    <a:pt x="364386" y="364386"/>
                  </a:lnTo>
                  <a:lnTo>
                    <a:pt x="0" y="364386"/>
                  </a:lnTo>
                  <a:close/>
                </a:path>
              </a:pathLst>
            </a:custGeom>
            <a:solidFill>
              <a:srgbClr val="446EB2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364386" cy="4024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7259300" y="-354830"/>
            <a:ext cx="1383530" cy="1383530"/>
            <a:chOff x="0" y="0"/>
            <a:chExt cx="364386" cy="36438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64386" cy="364386"/>
            </a:xfrm>
            <a:custGeom>
              <a:avLst/>
              <a:gdLst/>
              <a:ahLst/>
              <a:cxnLst/>
              <a:rect r="r" b="b" t="t" l="l"/>
              <a:pathLst>
                <a:path h="364386" w="364386">
                  <a:moveTo>
                    <a:pt x="0" y="0"/>
                  </a:moveTo>
                  <a:lnTo>
                    <a:pt x="364386" y="0"/>
                  </a:lnTo>
                  <a:lnTo>
                    <a:pt x="364386" y="364386"/>
                  </a:lnTo>
                  <a:lnTo>
                    <a:pt x="0" y="364386"/>
                  </a:lnTo>
                  <a:close/>
                </a:path>
              </a:pathLst>
            </a:custGeom>
            <a:solidFill>
              <a:srgbClr val="446EB2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364386" cy="4024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-354830" y="9258300"/>
            <a:ext cx="1383530" cy="1383530"/>
            <a:chOff x="0" y="0"/>
            <a:chExt cx="364386" cy="36438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364386" cy="364386"/>
            </a:xfrm>
            <a:custGeom>
              <a:avLst/>
              <a:gdLst/>
              <a:ahLst/>
              <a:cxnLst/>
              <a:rect r="r" b="b" t="t" l="l"/>
              <a:pathLst>
                <a:path h="364386" w="364386">
                  <a:moveTo>
                    <a:pt x="0" y="0"/>
                  </a:moveTo>
                  <a:lnTo>
                    <a:pt x="364386" y="0"/>
                  </a:lnTo>
                  <a:lnTo>
                    <a:pt x="364386" y="364386"/>
                  </a:lnTo>
                  <a:lnTo>
                    <a:pt x="0" y="364386"/>
                  </a:lnTo>
                  <a:close/>
                </a:path>
              </a:pathLst>
            </a:custGeom>
            <a:solidFill>
              <a:srgbClr val="446EB2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364386" cy="4024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3998562" y="1076983"/>
            <a:ext cx="13260738" cy="7459165"/>
          </a:xfrm>
          <a:custGeom>
            <a:avLst/>
            <a:gdLst/>
            <a:ahLst/>
            <a:cxnLst/>
            <a:rect r="r" b="b" t="t" l="l"/>
            <a:pathLst>
              <a:path h="7459165" w="13260738">
                <a:moveTo>
                  <a:pt x="0" y="0"/>
                </a:moveTo>
                <a:lnTo>
                  <a:pt x="13260738" y="0"/>
                </a:lnTo>
                <a:lnTo>
                  <a:pt x="13260738" y="7459165"/>
                </a:lnTo>
                <a:lnTo>
                  <a:pt x="0" y="745916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205207" y="6418415"/>
            <a:ext cx="2853214" cy="813166"/>
          </a:xfrm>
          <a:custGeom>
            <a:avLst/>
            <a:gdLst/>
            <a:ahLst/>
            <a:cxnLst/>
            <a:rect r="r" b="b" t="t" l="l"/>
            <a:pathLst>
              <a:path h="813166" w="2853214">
                <a:moveTo>
                  <a:pt x="0" y="0"/>
                </a:moveTo>
                <a:lnTo>
                  <a:pt x="2853215" y="0"/>
                </a:lnTo>
                <a:lnTo>
                  <a:pt x="2853215" y="813166"/>
                </a:lnTo>
                <a:lnTo>
                  <a:pt x="0" y="81316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2559720">
            <a:off x="4601707" y="5855464"/>
            <a:ext cx="3299484" cy="3068520"/>
          </a:xfrm>
          <a:custGeom>
            <a:avLst/>
            <a:gdLst/>
            <a:ahLst/>
            <a:cxnLst/>
            <a:rect r="r" b="b" t="t" l="l"/>
            <a:pathLst>
              <a:path h="3068520" w="3299484">
                <a:moveTo>
                  <a:pt x="0" y="0"/>
                </a:moveTo>
                <a:lnTo>
                  <a:pt x="3299484" y="0"/>
                </a:lnTo>
                <a:lnTo>
                  <a:pt x="3299484" y="3068520"/>
                </a:lnTo>
                <a:lnTo>
                  <a:pt x="0" y="306852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-3940230" y="6406533"/>
            <a:ext cx="13084230" cy="789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9"/>
              </a:lnSpc>
            </a:pPr>
            <a:r>
              <a:rPr lang="en-US" b="true" sz="2299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Click view </a:t>
            </a:r>
          </a:p>
          <a:p>
            <a:pPr algn="ctr">
              <a:lnSpc>
                <a:spcPts val="3219"/>
              </a:lnSpc>
              <a:spcBef>
                <a:spcPct val="0"/>
              </a:spcBef>
            </a:pPr>
            <a:r>
              <a:rPr lang="en-US" b="true" sz="2299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details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D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90105" y="1867339"/>
            <a:ext cx="3698991" cy="4615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37"/>
              </a:lnSpc>
            </a:pPr>
            <a:r>
              <a:rPr lang="en-US" b="true" sz="2455">
                <a:solidFill>
                  <a:srgbClr val="182F5B"/>
                </a:solidFill>
                <a:latin typeface="Codec Pro Ultra-Bold"/>
                <a:ea typeface="Codec Pro Ultra-Bold"/>
                <a:cs typeface="Codec Pro Ultra-Bold"/>
                <a:sym typeface="Codec Pro Ultra-Bold"/>
              </a:rPr>
              <a:t>CONCLUSION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2098095"/>
            <a:ext cx="13368343" cy="35648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38"/>
              </a:lnSpc>
            </a:pPr>
          </a:p>
          <a:p>
            <a:pPr algn="l" marL="545755" indent="-272878" lvl="1">
              <a:lnSpc>
                <a:spcPts val="3538"/>
              </a:lnSpc>
              <a:buFont typeface="Arial"/>
              <a:buChar char="•"/>
            </a:pPr>
            <a:r>
              <a:rPr lang="en-US" sz="2527">
                <a:solidFill>
                  <a:srgbClr val="182F5B"/>
                </a:solidFill>
                <a:latin typeface="Canva Sans"/>
                <a:ea typeface="Canva Sans"/>
                <a:cs typeface="Canva Sans"/>
                <a:sym typeface="Canva Sans"/>
              </a:rPr>
              <a:t>Developed a simple and user-friendly Home Inventory Management System using Java.</a:t>
            </a:r>
          </a:p>
          <a:p>
            <a:pPr algn="l" marL="545755" indent="-272878" lvl="1">
              <a:lnSpc>
                <a:spcPts val="3538"/>
              </a:lnSpc>
              <a:buFont typeface="Arial"/>
              <a:buChar char="•"/>
            </a:pPr>
            <a:r>
              <a:rPr lang="en-US" sz="2527">
                <a:solidFill>
                  <a:srgbClr val="182F5B"/>
                </a:solidFill>
                <a:latin typeface="Canva Sans"/>
                <a:ea typeface="Canva Sans"/>
                <a:cs typeface="Canva Sans"/>
                <a:sym typeface="Canva Sans"/>
              </a:rPr>
              <a:t>Successfully implemented essential inventory management features.</a:t>
            </a:r>
          </a:p>
          <a:p>
            <a:pPr algn="l" marL="545755" indent="-272878" lvl="1">
              <a:lnSpc>
                <a:spcPts val="3538"/>
              </a:lnSpc>
              <a:buFont typeface="Arial"/>
              <a:buChar char="•"/>
            </a:pPr>
            <a:r>
              <a:rPr lang="en-US" sz="2527">
                <a:solidFill>
                  <a:srgbClr val="182F5B"/>
                </a:solidFill>
                <a:latin typeface="Canva Sans"/>
                <a:ea typeface="Canva Sans"/>
                <a:cs typeface="Canva Sans"/>
                <a:sym typeface="Canva Sans"/>
              </a:rPr>
              <a:t>Applied Object-Oriented Programming (OOP) concepts in a practical project.</a:t>
            </a:r>
          </a:p>
          <a:p>
            <a:pPr algn="l" marL="545755" indent="-272878" lvl="1">
              <a:lnSpc>
                <a:spcPts val="3538"/>
              </a:lnSpc>
              <a:buFont typeface="Arial"/>
              <a:buChar char="•"/>
            </a:pPr>
            <a:r>
              <a:rPr lang="en-US" sz="2527">
                <a:solidFill>
                  <a:srgbClr val="182F5B"/>
                </a:solidFill>
                <a:latin typeface="Canva Sans"/>
                <a:ea typeface="Canva Sans"/>
                <a:cs typeface="Canva Sans"/>
                <a:sym typeface="Canva Sans"/>
              </a:rPr>
              <a:t>The system makes household item management easier and more organized.</a:t>
            </a:r>
          </a:p>
          <a:p>
            <a:pPr algn="l">
              <a:lnSpc>
                <a:spcPts val="3538"/>
              </a:lnSpc>
            </a:pPr>
          </a:p>
          <a:p>
            <a:pPr algn="l">
              <a:lnSpc>
                <a:spcPts val="3538"/>
              </a:lnSpc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5710538"/>
            <a:ext cx="13368343" cy="22217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45755" indent="-272878" lvl="1">
              <a:lnSpc>
                <a:spcPts val="3538"/>
              </a:lnSpc>
              <a:buFont typeface="Arial"/>
              <a:buChar char="•"/>
            </a:pPr>
            <a:r>
              <a:rPr lang="en-US" sz="2527">
                <a:solidFill>
                  <a:srgbClr val="182F5B"/>
                </a:solidFill>
                <a:latin typeface="Canva Sans"/>
                <a:ea typeface="Canva Sans"/>
                <a:cs typeface="Canva Sans"/>
                <a:sym typeface="Canva Sans"/>
              </a:rPr>
              <a:t>Add</a:t>
            </a:r>
            <a:r>
              <a:rPr lang="en-US" sz="2527">
                <a:solidFill>
                  <a:srgbClr val="182F5B"/>
                </a:solidFill>
                <a:latin typeface="Canva Sans"/>
                <a:ea typeface="Canva Sans"/>
                <a:cs typeface="Canva Sans"/>
                <a:sym typeface="Canva Sans"/>
              </a:rPr>
              <a:t> database integration for permanent data storage.</a:t>
            </a:r>
          </a:p>
          <a:p>
            <a:pPr algn="l" marL="545755" indent="-272878" lvl="1">
              <a:lnSpc>
                <a:spcPts val="3538"/>
              </a:lnSpc>
              <a:buFont typeface="Arial"/>
              <a:buChar char="•"/>
            </a:pPr>
            <a:r>
              <a:rPr lang="en-US" sz="2527">
                <a:solidFill>
                  <a:srgbClr val="182F5B"/>
                </a:solidFill>
                <a:latin typeface="Canva Sans"/>
                <a:ea typeface="Canva Sans"/>
                <a:cs typeface="Canva Sans"/>
                <a:sym typeface="Canva Sans"/>
              </a:rPr>
              <a:t>Add user profile and authentication security.</a:t>
            </a:r>
          </a:p>
          <a:p>
            <a:pPr algn="l" marL="545755" indent="-272878" lvl="1">
              <a:lnSpc>
                <a:spcPts val="3538"/>
              </a:lnSpc>
              <a:buFont typeface="Arial"/>
              <a:buChar char="•"/>
            </a:pPr>
            <a:r>
              <a:rPr lang="en-US" sz="2527">
                <a:solidFill>
                  <a:srgbClr val="182F5B"/>
                </a:solidFill>
                <a:latin typeface="Canva Sans"/>
                <a:ea typeface="Canva Sans"/>
                <a:cs typeface="Canva Sans"/>
                <a:sym typeface="Canva Sans"/>
              </a:rPr>
              <a:t>Add inventory reports and notifications.</a:t>
            </a:r>
          </a:p>
          <a:p>
            <a:pPr algn="l" marL="545755" indent="-272878" lvl="1">
              <a:lnSpc>
                <a:spcPts val="3538"/>
              </a:lnSpc>
              <a:buFont typeface="Arial"/>
              <a:buChar char="•"/>
            </a:pPr>
            <a:r>
              <a:rPr lang="en-US" sz="2527">
                <a:solidFill>
                  <a:srgbClr val="182F5B"/>
                </a:solidFill>
                <a:latin typeface="Canva Sans"/>
                <a:ea typeface="Canva Sans"/>
                <a:cs typeface="Canva Sans"/>
                <a:sym typeface="Canva Sans"/>
              </a:rPr>
              <a:t>Develop a GUI/mobile version for better user experience.</a:t>
            </a:r>
          </a:p>
          <a:p>
            <a:pPr algn="l">
              <a:lnSpc>
                <a:spcPts val="3538"/>
              </a:lnSpc>
            </a:pPr>
          </a:p>
        </p:txBody>
      </p:sp>
      <p:sp>
        <p:nvSpPr>
          <p:cNvPr name="Freeform 5" id="5"/>
          <p:cNvSpPr/>
          <p:nvPr/>
        </p:nvSpPr>
        <p:spPr>
          <a:xfrm flipH="true" flipV="true" rot="0">
            <a:off x="15097851" y="8418967"/>
            <a:ext cx="3969884" cy="2785026"/>
          </a:xfrm>
          <a:custGeom>
            <a:avLst/>
            <a:gdLst/>
            <a:ahLst/>
            <a:cxnLst/>
            <a:rect r="r" b="b" t="t" l="l"/>
            <a:pathLst>
              <a:path h="2785026" w="3969884">
                <a:moveTo>
                  <a:pt x="3969884" y="2785026"/>
                </a:moveTo>
                <a:lnTo>
                  <a:pt x="0" y="2785026"/>
                </a:lnTo>
                <a:lnTo>
                  <a:pt x="0" y="0"/>
                </a:lnTo>
                <a:lnTo>
                  <a:pt x="3969884" y="0"/>
                </a:lnTo>
                <a:lnTo>
                  <a:pt x="3969884" y="278502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7596235" y="7727202"/>
            <a:ext cx="1383530" cy="1383530"/>
            <a:chOff x="0" y="0"/>
            <a:chExt cx="364386" cy="36438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64386" cy="364386"/>
            </a:xfrm>
            <a:custGeom>
              <a:avLst/>
              <a:gdLst/>
              <a:ahLst/>
              <a:cxnLst/>
              <a:rect r="r" b="b" t="t" l="l"/>
              <a:pathLst>
                <a:path h="364386" w="364386">
                  <a:moveTo>
                    <a:pt x="0" y="0"/>
                  </a:moveTo>
                  <a:lnTo>
                    <a:pt x="364386" y="0"/>
                  </a:lnTo>
                  <a:lnTo>
                    <a:pt x="364386" y="364386"/>
                  </a:lnTo>
                  <a:lnTo>
                    <a:pt x="0" y="364386"/>
                  </a:lnTo>
                  <a:close/>
                </a:path>
              </a:pathLst>
            </a:custGeom>
            <a:solidFill>
              <a:srgbClr val="446EB2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364386" cy="4024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-779735" y="-916993"/>
            <a:ext cx="3969884" cy="2785026"/>
          </a:xfrm>
          <a:custGeom>
            <a:avLst/>
            <a:gdLst/>
            <a:ahLst/>
            <a:cxnLst/>
            <a:rect r="r" b="b" t="t" l="l"/>
            <a:pathLst>
              <a:path h="2785026" w="3969884">
                <a:moveTo>
                  <a:pt x="0" y="0"/>
                </a:moveTo>
                <a:lnTo>
                  <a:pt x="3969884" y="0"/>
                </a:lnTo>
                <a:lnTo>
                  <a:pt x="3969884" y="2785026"/>
                </a:lnTo>
                <a:lnTo>
                  <a:pt x="0" y="278502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-691765" y="1176268"/>
            <a:ext cx="1383530" cy="1383530"/>
            <a:chOff x="0" y="0"/>
            <a:chExt cx="364386" cy="36438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64386" cy="364386"/>
            </a:xfrm>
            <a:custGeom>
              <a:avLst/>
              <a:gdLst/>
              <a:ahLst/>
              <a:cxnLst/>
              <a:rect r="r" b="b" t="t" l="l"/>
              <a:pathLst>
                <a:path h="364386" w="364386">
                  <a:moveTo>
                    <a:pt x="0" y="0"/>
                  </a:moveTo>
                  <a:lnTo>
                    <a:pt x="364386" y="0"/>
                  </a:lnTo>
                  <a:lnTo>
                    <a:pt x="364386" y="364386"/>
                  </a:lnTo>
                  <a:lnTo>
                    <a:pt x="0" y="364386"/>
                  </a:lnTo>
                  <a:close/>
                </a:path>
              </a:pathLst>
            </a:custGeom>
            <a:solidFill>
              <a:srgbClr val="446EB2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364386" cy="4024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-1984942" y="8057181"/>
            <a:ext cx="3969884" cy="2785026"/>
          </a:xfrm>
          <a:custGeom>
            <a:avLst/>
            <a:gdLst/>
            <a:ahLst/>
            <a:cxnLst/>
            <a:rect r="r" b="b" t="t" l="l"/>
            <a:pathLst>
              <a:path h="2785026" w="3969884">
                <a:moveTo>
                  <a:pt x="0" y="0"/>
                </a:moveTo>
                <a:lnTo>
                  <a:pt x="3969884" y="0"/>
                </a:lnTo>
                <a:lnTo>
                  <a:pt x="3969884" y="2785026"/>
                </a:lnTo>
                <a:lnTo>
                  <a:pt x="0" y="278502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true" flipV="true" rot="0">
            <a:off x="16303058" y="-555207"/>
            <a:ext cx="3969884" cy="2785026"/>
          </a:xfrm>
          <a:custGeom>
            <a:avLst/>
            <a:gdLst/>
            <a:ahLst/>
            <a:cxnLst/>
            <a:rect r="r" b="b" t="t" l="l"/>
            <a:pathLst>
              <a:path h="2785026" w="3969884">
                <a:moveTo>
                  <a:pt x="3969884" y="2785026"/>
                </a:moveTo>
                <a:lnTo>
                  <a:pt x="0" y="2785026"/>
                </a:lnTo>
                <a:lnTo>
                  <a:pt x="0" y="0"/>
                </a:lnTo>
                <a:lnTo>
                  <a:pt x="3969884" y="0"/>
                </a:lnTo>
                <a:lnTo>
                  <a:pt x="3969884" y="278502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205207" y="5105400"/>
            <a:ext cx="3447215" cy="8382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73"/>
              </a:lnSpc>
              <a:spcBef>
                <a:spcPct val="0"/>
              </a:spcBef>
            </a:pPr>
            <a:r>
              <a:rPr lang="en-US" b="true" sz="2481">
                <a:solidFill>
                  <a:srgbClr val="182F5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Future Improvements</a:t>
            </a:r>
          </a:p>
          <a:p>
            <a:pPr algn="ctr">
              <a:lnSpc>
                <a:spcPts val="3473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D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462848" y="3702230"/>
            <a:ext cx="13362304" cy="24443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485"/>
              </a:lnSpc>
            </a:pPr>
            <a:r>
              <a:rPr lang="en-US" b="true" sz="13204">
                <a:solidFill>
                  <a:srgbClr val="182F5B"/>
                </a:solidFill>
                <a:latin typeface="Codec Pro Ultra-Bold"/>
                <a:ea typeface="Codec Pro Ultra-Bold"/>
                <a:cs typeface="Codec Pro Ultra-Bold"/>
                <a:sym typeface="Codec Pro Ultra-Bold"/>
              </a:rPr>
              <a:t>THANK YOU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-779735" y="-916993"/>
            <a:ext cx="3969884" cy="2785026"/>
          </a:xfrm>
          <a:custGeom>
            <a:avLst/>
            <a:gdLst/>
            <a:ahLst/>
            <a:cxnLst/>
            <a:rect r="r" b="b" t="t" l="l"/>
            <a:pathLst>
              <a:path h="2785026" w="3969884">
                <a:moveTo>
                  <a:pt x="0" y="0"/>
                </a:moveTo>
                <a:lnTo>
                  <a:pt x="3969884" y="0"/>
                </a:lnTo>
                <a:lnTo>
                  <a:pt x="3969884" y="2785026"/>
                </a:lnTo>
                <a:lnTo>
                  <a:pt x="0" y="278502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15097851" y="8418967"/>
            <a:ext cx="3969884" cy="2785026"/>
          </a:xfrm>
          <a:custGeom>
            <a:avLst/>
            <a:gdLst/>
            <a:ahLst/>
            <a:cxnLst/>
            <a:rect r="r" b="b" t="t" l="l"/>
            <a:pathLst>
              <a:path h="2785026" w="3969884">
                <a:moveTo>
                  <a:pt x="3969884" y="2785026"/>
                </a:moveTo>
                <a:lnTo>
                  <a:pt x="0" y="2785026"/>
                </a:lnTo>
                <a:lnTo>
                  <a:pt x="0" y="0"/>
                </a:lnTo>
                <a:lnTo>
                  <a:pt x="3969884" y="0"/>
                </a:lnTo>
                <a:lnTo>
                  <a:pt x="3969884" y="278502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-691765" y="1176268"/>
            <a:ext cx="1383530" cy="1383530"/>
            <a:chOff x="0" y="0"/>
            <a:chExt cx="364386" cy="36438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64386" cy="364386"/>
            </a:xfrm>
            <a:custGeom>
              <a:avLst/>
              <a:gdLst/>
              <a:ahLst/>
              <a:cxnLst/>
              <a:rect r="r" b="b" t="t" l="l"/>
              <a:pathLst>
                <a:path h="364386" w="364386">
                  <a:moveTo>
                    <a:pt x="0" y="0"/>
                  </a:moveTo>
                  <a:lnTo>
                    <a:pt x="364386" y="0"/>
                  </a:lnTo>
                  <a:lnTo>
                    <a:pt x="364386" y="364386"/>
                  </a:lnTo>
                  <a:lnTo>
                    <a:pt x="0" y="364386"/>
                  </a:lnTo>
                  <a:close/>
                </a:path>
              </a:pathLst>
            </a:custGeom>
            <a:solidFill>
              <a:srgbClr val="446EB2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364386" cy="4024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7596235" y="7727202"/>
            <a:ext cx="1383530" cy="1383530"/>
            <a:chOff x="0" y="0"/>
            <a:chExt cx="364386" cy="36438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64386" cy="364386"/>
            </a:xfrm>
            <a:custGeom>
              <a:avLst/>
              <a:gdLst/>
              <a:ahLst/>
              <a:cxnLst/>
              <a:rect r="r" b="b" t="t" l="l"/>
              <a:pathLst>
                <a:path h="364386" w="364386">
                  <a:moveTo>
                    <a:pt x="0" y="0"/>
                  </a:moveTo>
                  <a:lnTo>
                    <a:pt x="364386" y="0"/>
                  </a:lnTo>
                  <a:lnTo>
                    <a:pt x="364386" y="364386"/>
                  </a:lnTo>
                  <a:lnTo>
                    <a:pt x="0" y="364386"/>
                  </a:lnTo>
                  <a:close/>
                </a:path>
              </a:pathLst>
            </a:custGeom>
            <a:solidFill>
              <a:srgbClr val="446EB2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364386" cy="4024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-2243781" y="7703002"/>
            <a:ext cx="3272481" cy="3272481"/>
            <a:chOff x="0" y="0"/>
            <a:chExt cx="861888" cy="86188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61888" cy="861888"/>
            </a:xfrm>
            <a:custGeom>
              <a:avLst/>
              <a:gdLst/>
              <a:ahLst/>
              <a:cxnLst/>
              <a:rect r="r" b="b" t="t" l="l"/>
              <a:pathLst>
                <a:path h="861888" w="861888">
                  <a:moveTo>
                    <a:pt x="0" y="0"/>
                  </a:moveTo>
                  <a:lnTo>
                    <a:pt x="861888" y="0"/>
                  </a:lnTo>
                  <a:lnTo>
                    <a:pt x="861888" y="861888"/>
                  </a:lnTo>
                  <a:lnTo>
                    <a:pt x="0" y="861888"/>
                  </a:lnTo>
                  <a:close/>
                </a:path>
              </a:pathLst>
            </a:custGeom>
            <a:solidFill>
              <a:srgbClr val="446EB2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861888" cy="89998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7259300" y="-688483"/>
            <a:ext cx="3272481" cy="3272481"/>
            <a:chOff x="0" y="0"/>
            <a:chExt cx="861888" cy="86188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61888" cy="861888"/>
            </a:xfrm>
            <a:custGeom>
              <a:avLst/>
              <a:gdLst/>
              <a:ahLst/>
              <a:cxnLst/>
              <a:rect r="r" b="b" t="t" l="l"/>
              <a:pathLst>
                <a:path h="861888" w="861888">
                  <a:moveTo>
                    <a:pt x="0" y="0"/>
                  </a:moveTo>
                  <a:lnTo>
                    <a:pt x="861888" y="0"/>
                  </a:lnTo>
                  <a:lnTo>
                    <a:pt x="861888" y="861888"/>
                  </a:lnTo>
                  <a:lnTo>
                    <a:pt x="0" y="861888"/>
                  </a:lnTo>
                  <a:close/>
                </a:path>
              </a:pathLst>
            </a:custGeom>
            <a:solidFill>
              <a:srgbClr val="446EB2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861888" cy="89998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DAHSVj-4jqg</dc:identifier>
  <dcterms:modified xsi:type="dcterms:W3CDTF">2011-08-01T06:04:30Z</dcterms:modified>
  <cp:revision>1</cp:revision>
  <dc:title>oject</dc:title>
</cp:coreProperties>
</file>